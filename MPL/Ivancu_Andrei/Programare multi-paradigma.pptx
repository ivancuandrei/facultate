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9"/>
  </p:notesMasterIdLst>
  <p:sldIdLst>
    <p:sldId id="256" r:id="rId2"/>
    <p:sldId id="258" r:id="rId3"/>
    <p:sldId id="257" r:id="rId4"/>
    <p:sldId id="259" r:id="rId5"/>
    <p:sldId id="260" r:id="rId6"/>
    <p:sldId id="262" r:id="rId7"/>
    <p:sldId id="273" r:id="rId8"/>
    <p:sldId id="265" r:id="rId9"/>
    <p:sldId id="264" r:id="rId10"/>
    <p:sldId id="266" r:id="rId11"/>
    <p:sldId id="267" r:id="rId12"/>
    <p:sldId id="268" r:id="rId13"/>
    <p:sldId id="269" r:id="rId14"/>
    <p:sldId id="274"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5T12:25:30.603"/>
    </inkml:context>
    <inkml:brush xml:id="br0">
      <inkml:brushProperty name="width" value="0.035" units="cm"/>
      <inkml:brushProperty name="height" value="0.035" units="cm"/>
    </inkml:brush>
  </inkml:definitions>
  <inkml:trace contextRef="#ctx0" brushRef="#br0">0 0 24438,'6640'2138'0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95B4DF-83E9-4F80-8A7A-22B1A378E4F9}" type="datetimeFigureOut">
              <a:rPr lang="en-GB" smtClean="0"/>
              <a:t>22/05/2025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8DB541-D2A3-48CF-A902-2752DCC1A550}" type="slidenum">
              <a:rPr lang="en-GB" smtClean="0"/>
              <a:t>‹#›</a:t>
            </a:fld>
            <a:endParaRPr lang="en-GB"/>
          </a:p>
        </p:txBody>
      </p:sp>
    </p:spTree>
    <p:extLst>
      <p:ext uri="{BB962C8B-B14F-4D97-AF65-F5344CB8AC3E}">
        <p14:creationId xmlns:p14="http://schemas.microsoft.com/office/powerpoint/2010/main" val="3060583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8DB541-D2A3-48CF-A902-2752DCC1A550}" type="slidenum">
              <a:rPr lang="en-GB" smtClean="0"/>
              <a:t>4</a:t>
            </a:fld>
            <a:endParaRPr lang="en-GB"/>
          </a:p>
        </p:txBody>
      </p:sp>
    </p:spTree>
    <p:extLst>
      <p:ext uri="{BB962C8B-B14F-4D97-AF65-F5344CB8AC3E}">
        <p14:creationId xmlns:p14="http://schemas.microsoft.com/office/powerpoint/2010/main" val="3340793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8DB541-D2A3-48CF-A902-2752DCC1A550}" type="slidenum">
              <a:rPr lang="en-GB" smtClean="0"/>
              <a:t>8</a:t>
            </a:fld>
            <a:endParaRPr lang="en-GB"/>
          </a:p>
        </p:txBody>
      </p:sp>
    </p:spTree>
    <p:extLst>
      <p:ext uri="{BB962C8B-B14F-4D97-AF65-F5344CB8AC3E}">
        <p14:creationId xmlns:p14="http://schemas.microsoft.com/office/powerpoint/2010/main" val="3438578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5/22/2025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57298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5/22/2025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95373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5/22/2025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47201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5/22/2025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9945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5/22/2025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10503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5/22/2025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24209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5/22/2025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89133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5/22/2025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72641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5/22/2025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26246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5/22/2025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94945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5/22/2025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44942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5/22/2025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163382149"/>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survey.stackoverflow.co/2023" TargetMode="External"/><Relationship Id="rId2" Type="http://schemas.openxmlformats.org/officeDocument/2006/relationships/hyperlink" Target="https://www.typescriptlang.org/doc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5473D2-DD46-DFAF-84EC-264D6CE58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92B23A-DD5B-73D1-0855-720B534D56B8}"/>
              </a:ext>
            </a:extLst>
          </p:cNvPr>
          <p:cNvSpPr>
            <a:spLocks noGrp="1"/>
          </p:cNvSpPr>
          <p:nvPr>
            <p:ph type="ctrTitle"/>
          </p:nvPr>
        </p:nvSpPr>
        <p:spPr>
          <a:xfrm>
            <a:off x="7843394" y="1585762"/>
            <a:ext cx="3788767" cy="2811737"/>
          </a:xfrm>
        </p:spPr>
        <p:txBody>
          <a:bodyPr>
            <a:normAutofit/>
          </a:bodyPr>
          <a:lstStyle/>
          <a:p>
            <a:pPr algn="l"/>
            <a:r>
              <a:rPr lang="en-US" sz="4400" dirty="0"/>
              <a:t>Typescript</a:t>
            </a:r>
            <a:endParaRPr lang="en-GB" sz="4400" dirty="0"/>
          </a:p>
        </p:txBody>
      </p:sp>
      <p:sp>
        <p:nvSpPr>
          <p:cNvPr id="3" name="Subtitle 2">
            <a:extLst>
              <a:ext uri="{FF2B5EF4-FFF2-40B4-BE49-F238E27FC236}">
                <a16:creationId xmlns:a16="http://schemas.microsoft.com/office/drawing/2014/main" id="{04C85E43-1222-7A89-EEEF-2EFBBA740BC0}"/>
              </a:ext>
            </a:extLst>
          </p:cNvPr>
          <p:cNvSpPr>
            <a:spLocks noGrp="1"/>
          </p:cNvSpPr>
          <p:nvPr>
            <p:ph type="subTitle" idx="1"/>
          </p:nvPr>
        </p:nvSpPr>
        <p:spPr>
          <a:xfrm>
            <a:off x="7843395" y="4524046"/>
            <a:ext cx="3614857" cy="1319951"/>
          </a:xfrm>
        </p:spPr>
        <p:txBody>
          <a:bodyPr>
            <a:normAutofit/>
          </a:bodyPr>
          <a:lstStyle/>
          <a:p>
            <a:pPr algn="l">
              <a:lnSpc>
                <a:spcPct val="110000"/>
              </a:lnSpc>
            </a:pPr>
            <a:r>
              <a:rPr lang="en-US" sz="1500" dirty="0" err="1"/>
              <a:t>Programare</a:t>
            </a:r>
            <a:r>
              <a:rPr lang="en-US" sz="1500" dirty="0"/>
              <a:t> multi-</a:t>
            </a:r>
            <a:r>
              <a:rPr lang="en-US" sz="1500" dirty="0" err="1"/>
              <a:t>paradigma</a:t>
            </a:r>
            <a:endParaRPr lang="en-US" sz="1500" dirty="0"/>
          </a:p>
          <a:p>
            <a:pPr algn="l">
              <a:lnSpc>
                <a:spcPct val="110000"/>
              </a:lnSpc>
            </a:pPr>
            <a:r>
              <a:rPr lang="en-US" sz="1500" dirty="0"/>
              <a:t>		</a:t>
            </a:r>
          </a:p>
          <a:p>
            <a:pPr algn="l">
              <a:lnSpc>
                <a:spcPct val="110000"/>
              </a:lnSpc>
            </a:pPr>
            <a:r>
              <a:rPr lang="en-US" sz="1500" dirty="0"/>
              <a:t>		de </a:t>
            </a:r>
            <a:r>
              <a:rPr lang="en-US" sz="1500" dirty="0" err="1"/>
              <a:t>Ivancu</a:t>
            </a:r>
            <a:r>
              <a:rPr lang="en-US" sz="1500" dirty="0"/>
              <a:t> Andrei</a:t>
            </a:r>
            <a:endParaRPr lang="en-GB" sz="1500" dirty="0"/>
          </a:p>
        </p:txBody>
      </p:sp>
      <p:pic>
        <p:nvPicPr>
          <p:cNvPr id="4" name="Picture 3">
            <a:extLst>
              <a:ext uri="{FF2B5EF4-FFF2-40B4-BE49-F238E27FC236}">
                <a16:creationId xmlns:a16="http://schemas.microsoft.com/office/drawing/2014/main" id="{9D4326BC-A2F0-FEB6-4D85-8A5A5D951BEF}"/>
              </a:ext>
            </a:extLst>
          </p:cNvPr>
          <p:cNvPicPr>
            <a:picLocks noChangeAspect="1"/>
          </p:cNvPicPr>
          <p:nvPr/>
        </p:nvPicPr>
        <p:blipFill>
          <a:blip r:embed="rId2"/>
          <a:srcRect l="19425"/>
          <a:stretch/>
        </p:blipFill>
        <p:spPr>
          <a:xfrm>
            <a:off x="2" y="10"/>
            <a:ext cx="7367752" cy="6857990"/>
          </a:xfrm>
          <a:prstGeom prst="rect">
            <a:avLst/>
          </a:prstGeom>
        </p:spPr>
      </p:pic>
    </p:spTree>
    <p:extLst>
      <p:ext uri="{BB962C8B-B14F-4D97-AF65-F5344CB8AC3E}">
        <p14:creationId xmlns:p14="http://schemas.microsoft.com/office/powerpoint/2010/main" val="100043204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52BD0-29B4-DECA-9F5A-6CFB0066B2EA}"/>
              </a:ext>
            </a:extLst>
          </p:cNvPr>
          <p:cNvSpPr>
            <a:spLocks noGrp="1"/>
          </p:cNvSpPr>
          <p:nvPr>
            <p:ph type="ctrTitle"/>
          </p:nvPr>
        </p:nvSpPr>
        <p:spPr/>
        <p:txBody>
          <a:bodyPr/>
          <a:lstStyle/>
          <a:p>
            <a:r>
              <a:rPr lang="en-US" dirty="0" err="1"/>
              <a:t>Limbaj</a:t>
            </a:r>
            <a:endParaRPr lang="en-GB" dirty="0"/>
          </a:p>
        </p:txBody>
      </p:sp>
    </p:spTree>
    <p:extLst>
      <p:ext uri="{BB962C8B-B14F-4D97-AF65-F5344CB8AC3E}">
        <p14:creationId xmlns:p14="http://schemas.microsoft.com/office/powerpoint/2010/main" val="250031084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267A9A-3339-F8E6-CD25-1670F4B86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A23071-92A6-4BF9-34D7-2E327C81395B}"/>
              </a:ext>
            </a:extLst>
          </p:cNvPr>
          <p:cNvSpPr>
            <a:spLocks noGrp="1"/>
          </p:cNvSpPr>
          <p:nvPr>
            <p:ph type="title"/>
          </p:nvPr>
        </p:nvSpPr>
        <p:spPr>
          <a:xfrm>
            <a:off x="6642854" y="1067039"/>
            <a:ext cx="4495995" cy="1350226"/>
          </a:xfrm>
        </p:spPr>
        <p:txBody>
          <a:bodyPr anchor="b">
            <a:normAutofit/>
          </a:bodyPr>
          <a:lstStyle/>
          <a:p>
            <a:r>
              <a:rPr lang="en-US" dirty="0" err="1"/>
              <a:t>Descriere</a:t>
            </a:r>
            <a:r>
              <a:rPr lang="en-US" dirty="0"/>
              <a:t> </a:t>
            </a:r>
            <a:r>
              <a:rPr lang="en-US" dirty="0" err="1"/>
              <a:t>limbaj</a:t>
            </a:r>
            <a:endParaRPr lang="en-GB" dirty="0"/>
          </a:p>
        </p:txBody>
      </p:sp>
      <p:pic>
        <p:nvPicPr>
          <p:cNvPr id="4" name="Picture 3" descr="The one who created languages">
            <a:extLst>
              <a:ext uri="{FF2B5EF4-FFF2-40B4-BE49-F238E27FC236}">
                <a16:creationId xmlns:a16="http://schemas.microsoft.com/office/drawing/2014/main" id="{C408B0FB-4E79-1667-11F1-00FECBF89769}"/>
              </a:ext>
            </a:extLst>
          </p:cNvPr>
          <p:cNvPicPr>
            <a:picLocks noChangeAspect="1"/>
          </p:cNvPicPr>
          <p:nvPr/>
        </p:nvPicPr>
        <p:blipFill>
          <a:blip r:embed="rId2" cstate="print">
            <a:extLst>
              <a:ext uri="{28A0092B-C50C-407E-A947-70E740481C1C}">
                <a14:useLocalDpi xmlns:a14="http://schemas.microsoft.com/office/drawing/2010/main" val="0"/>
              </a:ext>
            </a:extLst>
          </a:blip>
          <a:srcRect l="28465" r="5462" b="-3"/>
          <a:stretch/>
        </p:blipFill>
        <p:spPr bwMode="auto">
          <a:xfrm>
            <a:off x="1172675" y="1067039"/>
            <a:ext cx="4618525" cy="4648478"/>
          </a:xfrm>
          <a:prstGeom prst="rect">
            <a:avLst/>
          </a:prstGeom>
          <a:noFill/>
        </p:spPr>
      </p:pic>
      <p:sp>
        <p:nvSpPr>
          <p:cNvPr id="3" name="Content Placeholder 2">
            <a:extLst>
              <a:ext uri="{FF2B5EF4-FFF2-40B4-BE49-F238E27FC236}">
                <a16:creationId xmlns:a16="http://schemas.microsoft.com/office/drawing/2014/main" id="{5119266E-7C5A-5B90-B854-4887676396BE}"/>
              </a:ext>
            </a:extLst>
          </p:cNvPr>
          <p:cNvSpPr>
            <a:spLocks noGrp="1"/>
          </p:cNvSpPr>
          <p:nvPr>
            <p:ph idx="1"/>
          </p:nvPr>
        </p:nvSpPr>
        <p:spPr>
          <a:xfrm>
            <a:off x="6642854" y="2501146"/>
            <a:ext cx="4495996" cy="3214371"/>
          </a:xfrm>
        </p:spPr>
        <p:txBody>
          <a:bodyPr>
            <a:normAutofit/>
          </a:bodyPr>
          <a:lstStyle/>
          <a:p>
            <a:pPr>
              <a:lnSpc>
                <a:spcPct val="110000"/>
              </a:lnSpc>
            </a:pPr>
            <a:r>
              <a:rPr lang="en-GB" sz="1700" kern="0" dirty="0">
                <a:effectLst/>
                <a:latin typeface="Times New Roman" panose="02020603050405020304" pitchFamily="18" charset="0"/>
                <a:ea typeface="Times New Roman" panose="02020603050405020304" pitchFamily="18" charset="0"/>
              </a:rPr>
              <a:t>TypeScript </a:t>
            </a:r>
            <a:r>
              <a:rPr lang="en-GB" sz="1700" kern="0" dirty="0" err="1">
                <a:effectLst/>
                <a:latin typeface="Times New Roman" panose="02020603050405020304" pitchFamily="18" charset="0"/>
                <a:ea typeface="Times New Roman" panose="02020603050405020304" pitchFamily="18" charset="0"/>
              </a:rPr>
              <a:t>este</a:t>
            </a:r>
            <a:r>
              <a:rPr lang="en-GB" sz="1700" kern="0" dirty="0">
                <a:effectLst/>
                <a:latin typeface="Times New Roman" panose="02020603050405020304" pitchFamily="18" charset="0"/>
                <a:ea typeface="Times New Roman" panose="02020603050405020304" pitchFamily="18" charset="0"/>
              </a:rPr>
              <a:t> un </a:t>
            </a:r>
            <a:r>
              <a:rPr lang="en-GB" sz="1700" kern="0" dirty="0" err="1">
                <a:effectLst/>
                <a:latin typeface="Times New Roman" panose="02020603050405020304" pitchFamily="18" charset="0"/>
                <a:ea typeface="Times New Roman" panose="02020603050405020304" pitchFamily="18" charset="0"/>
              </a:rPr>
              <a:t>limbaj</a:t>
            </a:r>
            <a:r>
              <a:rPr lang="en-GB" sz="1700" kern="0" dirty="0">
                <a:effectLst/>
                <a:latin typeface="Times New Roman" panose="02020603050405020304" pitchFamily="18" charset="0"/>
                <a:ea typeface="Times New Roman" panose="02020603050405020304" pitchFamily="18" charset="0"/>
              </a:rPr>
              <a:t> de </a:t>
            </a:r>
            <a:r>
              <a:rPr lang="en-GB" sz="1700" kern="0" dirty="0" err="1">
                <a:effectLst/>
                <a:latin typeface="Times New Roman" panose="02020603050405020304" pitchFamily="18" charset="0"/>
                <a:ea typeface="Times New Roman" panose="02020603050405020304" pitchFamily="18" charset="0"/>
              </a:rPr>
              <a:t>programare</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dezvoltat</a:t>
            </a:r>
            <a:r>
              <a:rPr lang="en-GB" sz="1700" kern="0" dirty="0">
                <a:effectLst/>
                <a:latin typeface="Times New Roman" panose="02020603050405020304" pitchFamily="18" charset="0"/>
                <a:ea typeface="Times New Roman" panose="02020603050405020304" pitchFamily="18" charset="0"/>
              </a:rPr>
              <a:t> de Microsoft </a:t>
            </a:r>
            <a:r>
              <a:rPr lang="en-GB" sz="1700" kern="0" dirty="0" err="1">
                <a:effectLst/>
                <a:latin typeface="Times New Roman" panose="02020603050405020304" pitchFamily="18" charset="0"/>
                <a:ea typeface="Times New Roman" panose="02020603050405020304" pitchFamily="18" charset="0"/>
              </a:rPr>
              <a:t>și</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lansat</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oficial</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în</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anul</a:t>
            </a:r>
            <a:r>
              <a:rPr lang="en-GB" sz="1700" kern="0" dirty="0">
                <a:effectLst/>
                <a:latin typeface="Times New Roman" panose="02020603050405020304" pitchFamily="18" charset="0"/>
                <a:ea typeface="Times New Roman" panose="02020603050405020304" pitchFamily="18" charset="0"/>
              </a:rPr>
              <a:t> 2012. </a:t>
            </a:r>
            <a:r>
              <a:rPr lang="en-GB" sz="1700" kern="0" dirty="0" err="1">
                <a:effectLst/>
                <a:latin typeface="Times New Roman" panose="02020603050405020304" pitchFamily="18" charset="0"/>
                <a:ea typeface="Times New Roman" panose="02020603050405020304" pitchFamily="18" charset="0"/>
              </a:rPr>
              <a:t>Creatorul</a:t>
            </a:r>
            <a:r>
              <a:rPr lang="en-GB" sz="1700" kern="0" dirty="0">
                <a:effectLst/>
                <a:latin typeface="Times New Roman" panose="02020603050405020304" pitchFamily="18" charset="0"/>
                <a:ea typeface="Times New Roman" panose="02020603050405020304" pitchFamily="18" charset="0"/>
              </a:rPr>
              <a:t> principal al </a:t>
            </a:r>
            <a:r>
              <a:rPr lang="en-GB" sz="1700" kern="0" dirty="0" err="1">
                <a:effectLst/>
                <a:latin typeface="Times New Roman" panose="02020603050405020304" pitchFamily="18" charset="0"/>
                <a:ea typeface="Times New Roman" panose="02020603050405020304" pitchFamily="18" charset="0"/>
              </a:rPr>
              <a:t>limbajului</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este</a:t>
            </a:r>
            <a:r>
              <a:rPr lang="en-GB" sz="1700" kern="0" dirty="0">
                <a:effectLst/>
                <a:latin typeface="Times New Roman" panose="02020603050405020304" pitchFamily="18" charset="0"/>
                <a:ea typeface="Times New Roman" panose="02020603050405020304" pitchFamily="18" charset="0"/>
              </a:rPr>
              <a:t> Anders Hejlsberg, </a:t>
            </a:r>
            <a:r>
              <a:rPr lang="en-GB" sz="1700" kern="0" dirty="0" err="1">
                <a:effectLst/>
                <a:latin typeface="Times New Roman" panose="02020603050405020304" pitchFamily="18" charset="0"/>
                <a:ea typeface="Times New Roman" panose="02020603050405020304" pitchFamily="18" charset="0"/>
              </a:rPr>
              <a:t>cunoscut</a:t>
            </a:r>
            <a:r>
              <a:rPr lang="en-GB" sz="1700" kern="0" dirty="0">
                <a:effectLst/>
                <a:latin typeface="Times New Roman" panose="02020603050405020304" pitchFamily="18" charset="0"/>
                <a:ea typeface="Times New Roman" panose="02020603050405020304" pitchFamily="18" charset="0"/>
              </a:rPr>
              <a:t> anterior </a:t>
            </a:r>
            <a:r>
              <a:rPr lang="en-GB" sz="1700" kern="0" dirty="0" err="1">
                <a:effectLst/>
                <a:latin typeface="Times New Roman" panose="02020603050405020304" pitchFamily="18" charset="0"/>
                <a:ea typeface="Times New Roman" panose="02020603050405020304" pitchFamily="18" charset="0"/>
              </a:rPr>
              <a:t>pentru</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proiectarea</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limbajului</a:t>
            </a:r>
            <a:r>
              <a:rPr lang="en-GB" sz="1700" kern="0" dirty="0">
                <a:effectLst/>
                <a:latin typeface="Times New Roman" panose="02020603050405020304" pitchFamily="18" charset="0"/>
                <a:ea typeface="Times New Roman" panose="02020603050405020304" pitchFamily="18" charset="0"/>
              </a:rPr>
              <a:t> Delphi </a:t>
            </a:r>
            <a:r>
              <a:rPr lang="en-GB" sz="1700" kern="0" dirty="0" err="1">
                <a:effectLst/>
                <a:latin typeface="Times New Roman" panose="02020603050405020304" pitchFamily="18" charset="0"/>
                <a:ea typeface="Times New Roman" panose="02020603050405020304" pitchFamily="18" charset="0"/>
              </a:rPr>
              <a:t>și</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pentru</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implicarea</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în</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dezvoltarea</a:t>
            </a:r>
            <a:r>
              <a:rPr lang="en-GB" sz="1700" kern="0" dirty="0">
                <a:effectLst/>
                <a:latin typeface="Times New Roman" panose="02020603050405020304" pitchFamily="18" charset="0"/>
                <a:ea typeface="Times New Roman" panose="02020603050405020304" pitchFamily="18" charset="0"/>
              </a:rPr>
              <a:t> C#. TypeScript a </a:t>
            </a:r>
            <a:r>
              <a:rPr lang="en-GB" sz="1700" kern="0" dirty="0" err="1">
                <a:effectLst/>
                <a:latin typeface="Times New Roman" panose="02020603050405020304" pitchFamily="18" charset="0"/>
                <a:ea typeface="Times New Roman" panose="02020603050405020304" pitchFamily="18" charset="0"/>
              </a:rPr>
              <a:t>fost</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conceput</a:t>
            </a:r>
            <a:r>
              <a:rPr lang="en-GB" sz="1700" kern="0" dirty="0">
                <a:effectLst/>
                <a:latin typeface="Times New Roman" panose="02020603050405020304" pitchFamily="18" charset="0"/>
                <a:ea typeface="Times New Roman" panose="02020603050405020304" pitchFamily="18" charset="0"/>
              </a:rPr>
              <a:t> ca un </a:t>
            </a:r>
            <a:r>
              <a:rPr lang="en-GB" sz="1700" kern="0" dirty="0" err="1">
                <a:effectLst/>
                <a:latin typeface="Times New Roman" panose="02020603050405020304" pitchFamily="18" charset="0"/>
                <a:ea typeface="Times New Roman" panose="02020603050405020304" pitchFamily="18" charset="0"/>
              </a:rPr>
              <a:t>răspuns</a:t>
            </a:r>
            <a:r>
              <a:rPr lang="en-GB" sz="1700" kern="0" dirty="0">
                <a:effectLst/>
                <a:latin typeface="Times New Roman" panose="02020603050405020304" pitchFamily="18" charset="0"/>
                <a:ea typeface="Times New Roman" panose="02020603050405020304" pitchFamily="18" charset="0"/>
              </a:rPr>
              <a:t> la </a:t>
            </a:r>
            <a:r>
              <a:rPr lang="en-GB" sz="1700" kern="0" dirty="0" err="1">
                <a:effectLst/>
                <a:latin typeface="Times New Roman" panose="02020603050405020304" pitchFamily="18" charset="0"/>
                <a:ea typeface="Times New Roman" panose="02020603050405020304" pitchFamily="18" charset="0"/>
              </a:rPr>
              <a:t>provocările</a:t>
            </a:r>
            <a:r>
              <a:rPr lang="en-GB" sz="1700" kern="0" dirty="0">
                <a:effectLst/>
                <a:latin typeface="Times New Roman" panose="02020603050405020304" pitchFamily="18" charset="0"/>
                <a:ea typeface="Times New Roman" panose="02020603050405020304" pitchFamily="18" charset="0"/>
              </a:rPr>
              <a:t> tot </a:t>
            </a:r>
            <a:r>
              <a:rPr lang="en-GB" sz="1700" kern="0" dirty="0" err="1">
                <a:effectLst/>
                <a:latin typeface="Times New Roman" panose="02020603050405020304" pitchFamily="18" charset="0"/>
                <a:ea typeface="Times New Roman" panose="02020603050405020304" pitchFamily="18" charset="0"/>
              </a:rPr>
              <a:t>mai</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mari</a:t>
            </a:r>
            <a:r>
              <a:rPr lang="en-GB" sz="1700" kern="0" dirty="0">
                <a:effectLst/>
                <a:latin typeface="Times New Roman" panose="02020603050405020304" pitchFamily="18" charset="0"/>
                <a:ea typeface="Times New Roman" panose="02020603050405020304" pitchFamily="18" charset="0"/>
              </a:rPr>
              <a:t> din </a:t>
            </a:r>
            <a:r>
              <a:rPr lang="en-GB" sz="1700" kern="0" dirty="0" err="1">
                <a:effectLst/>
                <a:latin typeface="Times New Roman" panose="02020603050405020304" pitchFamily="18" charset="0"/>
                <a:ea typeface="Times New Roman" panose="02020603050405020304" pitchFamily="18" charset="0"/>
              </a:rPr>
              <a:t>dezvoltarea</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aplicațiilor</a:t>
            </a:r>
            <a:r>
              <a:rPr lang="en-GB" sz="1700" kern="0" dirty="0">
                <a:effectLst/>
                <a:latin typeface="Times New Roman" panose="02020603050405020304" pitchFamily="18" charset="0"/>
                <a:ea typeface="Times New Roman" panose="02020603050405020304" pitchFamily="18" charset="0"/>
              </a:rPr>
              <a:t> JavaScript </a:t>
            </a:r>
            <a:r>
              <a:rPr lang="en-GB" sz="1700" kern="0" dirty="0" err="1">
                <a:effectLst/>
                <a:latin typeface="Times New Roman" panose="02020603050405020304" pitchFamily="18" charset="0"/>
                <a:ea typeface="Times New Roman" panose="02020603050405020304" pitchFamily="18" charset="0"/>
              </a:rPr>
              <a:t>complexe</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în</a:t>
            </a:r>
            <a:r>
              <a:rPr lang="en-GB" sz="1700" kern="0" dirty="0">
                <a:effectLst/>
                <a:latin typeface="Times New Roman" panose="02020603050405020304" pitchFamily="18" charset="0"/>
                <a:ea typeface="Times New Roman" panose="02020603050405020304" pitchFamily="18" charset="0"/>
              </a:rPr>
              <a:t> special </a:t>
            </a:r>
            <a:r>
              <a:rPr lang="en-GB" sz="1700" kern="0" dirty="0" err="1">
                <a:effectLst/>
                <a:latin typeface="Times New Roman" panose="02020603050405020304" pitchFamily="18" charset="0"/>
                <a:ea typeface="Times New Roman" panose="02020603050405020304" pitchFamily="18" charset="0"/>
              </a:rPr>
              <a:t>cele</a:t>
            </a:r>
            <a:r>
              <a:rPr lang="en-GB" sz="1700" kern="0" dirty="0">
                <a:effectLst/>
                <a:latin typeface="Times New Roman" panose="02020603050405020304" pitchFamily="18" charset="0"/>
                <a:ea typeface="Times New Roman" panose="02020603050405020304" pitchFamily="18" charset="0"/>
              </a:rPr>
              <a:t> de </a:t>
            </a:r>
            <a:r>
              <a:rPr lang="en-GB" sz="1700" kern="0" dirty="0" err="1">
                <a:effectLst/>
                <a:latin typeface="Times New Roman" panose="02020603050405020304" pitchFamily="18" charset="0"/>
                <a:ea typeface="Times New Roman" panose="02020603050405020304" pitchFamily="18" charset="0"/>
              </a:rPr>
              <a:t>mari</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dimensiuni</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și</a:t>
            </a:r>
            <a:r>
              <a:rPr lang="en-GB" sz="1700" kern="0" dirty="0">
                <a:effectLst/>
                <a:latin typeface="Times New Roman" panose="02020603050405020304" pitchFamily="18" charset="0"/>
                <a:ea typeface="Times New Roman" panose="02020603050405020304" pitchFamily="18" charset="0"/>
              </a:rPr>
              <a:t> cu </a:t>
            </a:r>
            <a:r>
              <a:rPr lang="en-GB" sz="1700" kern="0" dirty="0" err="1">
                <a:effectLst/>
                <a:latin typeface="Times New Roman" panose="02020603050405020304" pitchFamily="18" charset="0"/>
                <a:ea typeface="Times New Roman" panose="02020603050405020304" pitchFamily="18" charset="0"/>
              </a:rPr>
              <a:t>echipe</a:t>
            </a:r>
            <a:r>
              <a:rPr lang="en-GB" sz="1700" kern="0" dirty="0">
                <a:effectLst/>
                <a:latin typeface="Times New Roman" panose="02020603050405020304" pitchFamily="18" charset="0"/>
                <a:ea typeface="Times New Roman" panose="02020603050405020304" pitchFamily="18" charset="0"/>
              </a:rPr>
              <a:t> </a:t>
            </a:r>
            <a:r>
              <a:rPr lang="en-GB" sz="1700" kern="0" dirty="0" err="1">
                <a:effectLst/>
                <a:latin typeface="Times New Roman" panose="02020603050405020304" pitchFamily="18" charset="0"/>
                <a:ea typeface="Times New Roman" panose="02020603050405020304" pitchFamily="18" charset="0"/>
              </a:rPr>
              <a:t>numeroase</a:t>
            </a:r>
            <a:r>
              <a:rPr lang="en-GB" sz="1700" kern="0" dirty="0">
                <a:effectLst/>
                <a:latin typeface="Times New Roman" panose="02020603050405020304" pitchFamily="18" charset="0"/>
                <a:ea typeface="Times New Roman" panose="02020603050405020304" pitchFamily="18" charset="0"/>
              </a:rPr>
              <a:t>.</a:t>
            </a:r>
            <a:br>
              <a:rPr lang="en-GB" sz="1700" kern="0" dirty="0">
                <a:effectLst/>
                <a:latin typeface="Times New Roman" panose="02020603050405020304" pitchFamily="18" charset="0"/>
                <a:ea typeface="Times New Roman" panose="02020603050405020304" pitchFamily="18" charset="0"/>
              </a:rPr>
            </a:br>
            <a:endParaRPr lang="en-GB" sz="1700" dirty="0"/>
          </a:p>
        </p:txBody>
      </p:sp>
    </p:spTree>
    <p:extLst>
      <p:ext uri="{BB962C8B-B14F-4D97-AF65-F5344CB8AC3E}">
        <p14:creationId xmlns:p14="http://schemas.microsoft.com/office/powerpoint/2010/main" val="2466590773"/>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600B7E-D1C8-652F-3216-385144455E8F}"/>
              </a:ext>
            </a:extLst>
          </p:cNvPr>
          <p:cNvSpPr>
            <a:spLocks noGrp="1"/>
          </p:cNvSpPr>
          <p:nvPr>
            <p:ph idx="1"/>
          </p:nvPr>
        </p:nvSpPr>
        <p:spPr>
          <a:xfrm>
            <a:off x="769210" y="1825586"/>
            <a:ext cx="10653579" cy="4593828"/>
          </a:xfrm>
        </p:spPr>
        <p:txBody>
          <a:bodyPr>
            <a:normAutofit fontScale="92500" lnSpcReduction="10000"/>
          </a:bodyPr>
          <a:lstStyle/>
          <a:p>
            <a:pPr>
              <a:lnSpc>
                <a:spcPct val="115000"/>
              </a:lnSpc>
              <a:spcAft>
                <a:spcPts val="1000"/>
              </a:spcAft>
              <a:buNone/>
            </a:pP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Motivația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din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spatele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TypeScript a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fost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să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ofere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un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sistem</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tipuri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static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pentru</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JavaScript,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fără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rupe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compatibilitatea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cu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acesta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Astfel</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TypeScript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este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o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suprascriere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(superset) a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limbajului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JavaScript,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ceea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înseamnă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orice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cod JavaScript valid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este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și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cod TypeScript valid. Prin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adăugarea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unui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sistem</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static de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tipuri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și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unor</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facilități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moderne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precum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interfețe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generice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sau</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decoratori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TypeScript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facilitează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dezvoltarea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robustă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scalabilă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și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predictibilă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aplicațiilor</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Limbajul</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fost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lansat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ca open-source, sub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licență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Apache 2.0,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și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este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întreținut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activ</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de Microsoft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împreună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cu o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comunitate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largă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dezvoltatori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Proiectul</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este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găzduit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pe GitHub,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unde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evoluează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în</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mod transparent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prin</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issue-</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uri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pull request-</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uri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și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feedback din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partea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comunității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În</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ceea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privește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adoptarea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TypeScript a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cunoscut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o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ascensiune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spectaculoasă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în</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ultimii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ani. A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devenit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limbajul</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preferat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pentru</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dezvoltarea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în</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cadrul</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framework-</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urilor</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moderne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precum Angular (care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îl</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folosește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nativ</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React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prin</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crearea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aplicații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robuste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cu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tipuri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și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Vue (care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oferă</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suport</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nativ</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pentru</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TypeScript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începând</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cu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versiunea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3). De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asemenea</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mari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companii</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precum Google, Microsoft, Slack, Airbnb, Palantir, Asana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sau</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Lyft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folosesc</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TypeScript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în</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cs typeface="Times New Roman" panose="02020603050405020304" pitchFamily="18" charset="0"/>
              </a:rPr>
              <a:t>producție</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kern="0" dirty="0">
                <a:effectLst/>
                <a:latin typeface="Times New Roman" panose="02020603050405020304" pitchFamily="18" charset="0"/>
                <a:ea typeface="Times New Roman" panose="02020603050405020304" pitchFamily="18" charset="0"/>
              </a:rPr>
              <a:t>Conform </a:t>
            </a:r>
            <a:r>
              <a:rPr lang="en-GB" sz="1800" kern="0" dirty="0" err="1">
                <a:effectLst/>
                <a:latin typeface="Times New Roman" panose="02020603050405020304" pitchFamily="18" charset="0"/>
                <a:ea typeface="Times New Roman" panose="02020603050405020304" pitchFamily="18" charset="0"/>
              </a:rPr>
              <a:t>sondajului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anual</a:t>
            </a:r>
            <a:r>
              <a:rPr lang="en-GB" sz="1800" kern="0" dirty="0">
                <a:effectLst/>
                <a:latin typeface="Times New Roman" panose="02020603050405020304" pitchFamily="18" charset="0"/>
                <a:ea typeface="Times New Roman" panose="02020603050405020304" pitchFamily="18" charset="0"/>
              </a:rPr>
              <a:t> Stack Overflow Developer Survey din 2023, TypeScript se </a:t>
            </a:r>
            <a:r>
              <a:rPr lang="en-GB" sz="1800" kern="0" dirty="0" err="1">
                <a:effectLst/>
                <a:latin typeface="Times New Roman" panose="02020603050405020304" pitchFamily="18" charset="0"/>
                <a:ea typeface="Times New Roman" panose="02020603050405020304" pitchFamily="18" charset="0"/>
              </a:rPr>
              <a:t>află</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în</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topul</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celor</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mai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iubite</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și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utilizate</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limbaje</a:t>
            </a:r>
            <a:r>
              <a:rPr lang="en-GB" sz="1800" kern="0" dirty="0">
                <a:effectLst/>
                <a:latin typeface="Times New Roman" panose="02020603050405020304" pitchFamily="18" charset="0"/>
                <a:ea typeface="Times New Roman" panose="02020603050405020304" pitchFamily="18" charset="0"/>
              </a:rPr>
              <a:t> de </a:t>
            </a:r>
            <a:r>
              <a:rPr lang="en-GB" sz="1800" kern="0" dirty="0" err="1">
                <a:effectLst/>
                <a:latin typeface="Times New Roman" panose="02020603050405020304" pitchFamily="18" charset="0"/>
                <a:ea typeface="Times New Roman" panose="02020603050405020304" pitchFamily="18" charset="0"/>
              </a:rPr>
              <a:t>programare</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Acest</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fapt</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subliniază</a:t>
            </a:r>
            <a:r>
              <a:rPr lang="en-GB" sz="1800" kern="0" dirty="0">
                <a:effectLst/>
                <a:latin typeface="Times New Roman" panose="02020603050405020304" pitchFamily="18" charset="0"/>
                <a:ea typeface="Times New Roman" panose="02020603050405020304" pitchFamily="18" charset="0"/>
              </a:rPr>
              <a:t> nu </a:t>
            </a:r>
            <a:r>
              <a:rPr lang="en-GB" sz="1800" kern="0" dirty="0" err="1">
                <a:effectLst/>
                <a:latin typeface="Times New Roman" panose="02020603050405020304" pitchFamily="18" charset="0"/>
                <a:ea typeface="Times New Roman" panose="02020603050405020304" pitchFamily="18" charset="0"/>
              </a:rPr>
              <a:t>doar</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popularitatea</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sa</a:t>
            </a:r>
            <a:r>
              <a:rPr lang="en-GB" sz="1800" kern="0" dirty="0">
                <a:effectLst/>
                <a:latin typeface="Times New Roman" panose="02020603050405020304" pitchFamily="18" charset="0"/>
                <a:ea typeface="Times New Roman" panose="02020603050405020304" pitchFamily="18" charset="0"/>
              </a:rPr>
              <a:t>, ci </a:t>
            </a:r>
            <a:r>
              <a:rPr lang="en-GB" sz="1800" kern="0" dirty="0" err="1">
                <a:effectLst/>
                <a:latin typeface="Times New Roman" panose="02020603050405020304" pitchFamily="18" charset="0"/>
                <a:ea typeface="Times New Roman" panose="02020603050405020304" pitchFamily="18" charset="0"/>
              </a:rPr>
              <a:t>și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nivelul</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ridicat</a:t>
            </a:r>
            <a:r>
              <a:rPr lang="en-GB" sz="1800" kern="0" dirty="0">
                <a:effectLst/>
                <a:latin typeface="Times New Roman" panose="02020603050405020304" pitchFamily="18" charset="0"/>
                <a:ea typeface="Times New Roman" panose="02020603050405020304" pitchFamily="18" charset="0"/>
              </a:rPr>
              <a:t> de </a:t>
            </a:r>
            <a:r>
              <a:rPr lang="en-GB" sz="1800" kern="0" dirty="0" err="1">
                <a:effectLst/>
                <a:latin typeface="Times New Roman" panose="02020603050405020304" pitchFamily="18" charset="0"/>
                <a:ea typeface="Times New Roman" panose="02020603050405020304" pitchFamily="18" charset="0"/>
              </a:rPr>
              <a:t>satisfacție</a:t>
            </a:r>
            <a:r>
              <a:rPr lang="en-GB" sz="1800" kern="0" dirty="0">
                <a:effectLst/>
                <a:latin typeface="Times New Roman" panose="02020603050405020304" pitchFamily="18" charset="0"/>
                <a:ea typeface="Times New Roman" panose="02020603050405020304" pitchFamily="18" charset="0"/>
              </a:rPr>
              <a:t> al </a:t>
            </a:r>
            <a:r>
              <a:rPr lang="en-GB" sz="1800" kern="0" dirty="0" err="1">
                <a:effectLst/>
                <a:latin typeface="Times New Roman" panose="02020603050405020304" pitchFamily="18" charset="0"/>
                <a:ea typeface="Times New Roman" panose="02020603050405020304" pitchFamily="18" charset="0"/>
              </a:rPr>
              <a:t>dezvoltatorilor</a:t>
            </a:r>
            <a:r>
              <a:rPr lang="en-GB" sz="1800" kern="0" dirty="0">
                <a:effectLst/>
                <a:latin typeface="Times New Roman" panose="02020603050405020304" pitchFamily="18" charset="0"/>
                <a:ea typeface="Times New Roman" panose="02020603050405020304" pitchFamily="18" charset="0"/>
              </a:rPr>
              <a:t> care </a:t>
            </a:r>
            <a:r>
              <a:rPr lang="en-GB" sz="1800" kern="0" dirty="0" err="1">
                <a:effectLst/>
                <a:latin typeface="Times New Roman" panose="02020603050405020304" pitchFamily="18" charset="0"/>
                <a:ea typeface="Times New Roman" panose="02020603050405020304" pitchFamily="18" charset="0"/>
              </a:rPr>
              <a:t>îl</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folosesc</a:t>
            </a:r>
            <a:endParaRPr lang="en-GB" dirty="0"/>
          </a:p>
        </p:txBody>
      </p:sp>
      <p:pic>
        <p:nvPicPr>
          <p:cNvPr id="5" name="Picture 4" descr="A green and blue triangle&#10;&#10;AI-generated content may be incorrect.">
            <a:extLst>
              <a:ext uri="{FF2B5EF4-FFF2-40B4-BE49-F238E27FC236}">
                <a16:creationId xmlns:a16="http://schemas.microsoft.com/office/drawing/2014/main" id="{8A8AA5F5-8D02-0876-49BF-AD91347F09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9244" y="522460"/>
            <a:ext cx="1141081" cy="989568"/>
          </a:xfrm>
          <a:prstGeom prst="rect">
            <a:avLst/>
          </a:prstGeom>
        </p:spPr>
      </p:pic>
      <p:pic>
        <p:nvPicPr>
          <p:cNvPr id="7" name="Picture 6" descr="A red logo with a letter&#10;&#10;AI-generated content may be incorrect.">
            <a:extLst>
              <a:ext uri="{FF2B5EF4-FFF2-40B4-BE49-F238E27FC236}">
                <a16:creationId xmlns:a16="http://schemas.microsoft.com/office/drawing/2014/main" id="{77428DA5-E85D-1024-B3C2-3B4411A728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2275" y="365504"/>
            <a:ext cx="1209675" cy="1209675"/>
          </a:xfrm>
          <a:prstGeom prst="rect">
            <a:avLst/>
          </a:prstGeom>
        </p:spPr>
      </p:pic>
      <p:pic>
        <p:nvPicPr>
          <p:cNvPr id="9" name="Picture 8" descr="A pink and white logo&#10;&#10;AI-generated content may be incorrect.">
            <a:extLst>
              <a:ext uri="{FF2B5EF4-FFF2-40B4-BE49-F238E27FC236}">
                <a16:creationId xmlns:a16="http://schemas.microsoft.com/office/drawing/2014/main" id="{ED423D60-9FEF-205D-1649-3BFD5A4B2B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95850" y="459310"/>
            <a:ext cx="1576387" cy="1115869"/>
          </a:xfrm>
          <a:prstGeom prst="rect">
            <a:avLst/>
          </a:prstGeom>
        </p:spPr>
      </p:pic>
      <p:pic>
        <p:nvPicPr>
          <p:cNvPr id="11" name="Picture 10" descr="A red and white logo&#10;&#10;AI-generated content may be incorrect.">
            <a:extLst>
              <a:ext uri="{FF2B5EF4-FFF2-40B4-BE49-F238E27FC236}">
                <a16:creationId xmlns:a16="http://schemas.microsoft.com/office/drawing/2014/main" id="{B25C5AAB-540E-6962-34E1-6559F353BEA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96137" y="346595"/>
            <a:ext cx="1290637" cy="1290637"/>
          </a:xfrm>
          <a:prstGeom prst="rect">
            <a:avLst/>
          </a:prstGeom>
        </p:spPr>
      </p:pic>
      <p:pic>
        <p:nvPicPr>
          <p:cNvPr id="13" name="Picture 12" descr="A colorful letter g&#10;&#10;AI-generated content may be incorrect.">
            <a:extLst>
              <a:ext uri="{FF2B5EF4-FFF2-40B4-BE49-F238E27FC236}">
                <a16:creationId xmlns:a16="http://schemas.microsoft.com/office/drawing/2014/main" id="{138038D9-3B91-188C-6FCD-C70C5F848EC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10674" y="365504"/>
            <a:ext cx="1316766" cy="1316766"/>
          </a:xfrm>
          <a:prstGeom prst="rect">
            <a:avLst/>
          </a:prstGeom>
        </p:spPr>
      </p:pic>
    </p:spTree>
    <p:extLst>
      <p:ext uri="{BB962C8B-B14F-4D97-AF65-F5344CB8AC3E}">
        <p14:creationId xmlns:p14="http://schemas.microsoft.com/office/powerpoint/2010/main" val="1026926414"/>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E0D94C-D6FD-C073-59F7-BBC71E53C650}"/>
              </a:ext>
            </a:extLst>
          </p:cNvPr>
          <p:cNvSpPr>
            <a:spLocks noGrp="1"/>
          </p:cNvSpPr>
          <p:nvPr>
            <p:ph type="title"/>
          </p:nvPr>
        </p:nvSpPr>
        <p:spPr>
          <a:xfrm>
            <a:off x="612648" y="603504"/>
            <a:ext cx="5862396" cy="1527048"/>
          </a:xfrm>
        </p:spPr>
        <p:txBody>
          <a:bodyPr anchor="b">
            <a:normAutofit/>
          </a:bodyPr>
          <a:lstStyle/>
          <a:p>
            <a:r>
              <a:rPr lang="en-US" dirty="0" err="1"/>
              <a:t>Paradigme</a:t>
            </a:r>
            <a:r>
              <a:rPr lang="en-US" dirty="0"/>
              <a:t> de </a:t>
            </a:r>
            <a:r>
              <a:rPr lang="en-US" dirty="0" err="1"/>
              <a:t>programare</a:t>
            </a:r>
            <a:r>
              <a:rPr lang="en-US" dirty="0"/>
              <a:t> </a:t>
            </a:r>
            <a:r>
              <a:rPr lang="en-US" dirty="0" err="1"/>
              <a:t>existente</a:t>
            </a:r>
            <a:r>
              <a:rPr lang="en-US" dirty="0"/>
              <a:t> </a:t>
            </a:r>
            <a:endParaRPr lang="en-GB" dirty="0"/>
          </a:p>
        </p:txBody>
      </p:sp>
      <p:sp>
        <p:nvSpPr>
          <p:cNvPr id="3" name="Content Placeholder 2">
            <a:extLst>
              <a:ext uri="{FF2B5EF4-FFF2-40B4-BE49-F238E27FC236}">
                <a16:creationId xmlns:a16="http://schemas.microsoft.com/office/drawing/2014/main" id="{CE0747B7-8097-C5AC-D6A8-723EE7C370E9}"/>
              </a:ext>
            </a:extLst>
          </p:cNvPr>
          <p:cNvSpPr>
            <a:spLocks noGrp="1"/>
          </p:cNvSpPr>
          <p:nvPr>
            <p:ph idx="1"/>
          </p:nvPr>
        </p:nvSpPr>
        <p:spPr>
          <a:xfrm>
            <a:off x="612648" y="2212848"/>
            <a:ext cx="5862396" cy="4096512"/>
          </a:xfrm>
        </p:spPr>
        <p:txBody>
          <a:bodyPr>
            <a:normAutofit/>
          </a:bodyPr>
          <a:lstStyle/>
          <a:p>
            <a:pPr>
              <a:lnSpc>
                <a:spcPct val="110000"/>
              </a:lnSpc>
            </a:pPr>
            <a:r>
              <a:rPr lang="en-GB" sz="1400" kern="0">
                <a:effectLst/>
                <a:latin typeface="Times New Roman" panose="02020603050405020304" pitchFamily="18" charset="0"/>
                <a:ea typeface="Times New Roman" panose="02020603050405020304" pitchFamily="18" charset="0"/>
              </a:rPr>
              <a:t>Paradigma imperativă/procedurală - la fel ca JavaScript, permite scrierea codului în mod imperativ, adică pas cu pas, folosind instrucțiuni, bucle, variabile și structuri de control ale fluxului (if, while, for etc.). </a:t>
            </a:r>
          </a:p>
          <a:p>
            <a:pPr>
              <a:lnSpc>
                <a:spcPct val="110000"/>
              </a:lnSpc>
            </a:pPr>
            <a:r>
              <a:rPr lang="en-GB" sz="1400" kern="0">
                <a:effectLst/>
                <a:latin typeface="Times New Roman" panose="02020603050405020304" pitchFamily="18" charset="0"/>
                <a:ea typeface="Times New Roman" panose="02020603050405020304" pitchFamily="18" charset="0"/>
              </a:rPr>
              <a:t>Paradigma orientată pe obiecte (OOP) - extinde capabilitățile OOP ale JavaScript-ului prin introducerea de clase cu atribute private/publice/protejate, moștenire, interfețe și abstractizare</a:t>
            </a:r>
          </a:p>
          <a:p>
            <a:pPr>
              <a:lnSpc>
                <a:spcPct val="110000"/>
              </a:lnSpc>
            </a:pPr>
            <a:r>
              <a:rPr lang="en-GB" sz="1400" kern="0">
                <a:effectLst/>
                <a:latin typeface="Times New Roman" panose="02020603050405020304" pitchFamily="18" charset="0"/>
                <a:ea typeface="Times New Roman" panose="02020603050405020304" pitchFamily="18" charset="0"/>
              </a:rPr>
              <a:t>Paradigma funcțională - permite programarea funcțională prin intermediul funcțiilor pure, a funcțiilor de ordin înalt, a operatorilor funcționali (map, filter, reduce), closure-uri și a conceptului de imutabilitate</a:t>
            </a:r>
          </a:p>
          <a:p>
            <a:pPr>
              <a:lnSpc>
                <a:spcPct val="110000"/>
              </a:lnSpc>
            </a:pPr>
            <a:r>
              <a:rPr lang="en-GB" sz="1400" kern="0">
                <a:effectLst/>
                <a:latin typeface="Times New Roman" panose="02020603050405020304" pitchFamily="18" charset="0"/>
                <a:ea typeface="Times New Roman" panose="02020603050405020304" pitchFamily="18" charset="0"/>
              </a:rPr>
              <a:t>Paradigma declarativă - permite exprimarea logicii programului într-un mod declarativ, în special când este combinat cu biblioteci și framework-uri moderne precum React sau RxJS. În aceste cazuri, dezvoltatorul declară </a:t>
            </a:r>
            <a:r>
              <a:rPr lang="en-GB" sz="1400" i="1" kern="0">
                <a:effectLst/>
                <a:latin typeface="Times New Roman" panose="02020603050405020304" pitchFamily="18" charset="0"/>
                <a:ea typeface="Times New Roman" panose="02020603050405020304" pitchFamily="18" charset="0"/>
              </a:rPr>
              <a:t>ce</a:t>
            </a:r>
            <a:r>
              <a:rPr lang="en-GB" sz="1400" kern="0">
                <a:effectLst/>
                <a:latin typeface="Times New Roman" panose="02020603050405020304" pitchFamily="18" charset="0"/>
                <a:ea typeface="Times New Roman" panose="02020603050405020304" pitchFamily="18" charset="0"/>
              </a:rPr>
              <a:t> vrea să obțină, nu </a:t>
            </a:r>
            <a:r>
              <a:rPr lang="en-GB" sz="1400" i="1" kern="0">
                <a:effectLst/>
                <a:latin typeface="Times New Roman" panose="02020603050405020304" pitchFamily="18" charset="0"/>
                <a:ea typeface="Times New Roman" panose="02020603050405020304" pitchFamily="18" charset="0"/>
              </a:rPr>
              <a:t>cum</a:t>
            </a:r>
            <a:r>
              <a:rPr lang="en-GB" sz="1400" kern="0">
                <a:effectLst/>
                <a:latin typeface="Times New Roman" panose="02020603050405020304" pitchFamily="18" charset="0"/>
                <a:ea typeface="Times New Roman" panose="02020603050405020304" pitchFamily="18" charset="0"/>
              </a:rPr>
              <a:t> să obțină acel lucru (de exemplu, fluxuri de date reactive).</a:t>
            </a:r>
            <a:endParaRPr lang="en-GB" sz="1400" dirty="0"/>
          </a:p>
        </p:txBody>
      </p:sp>
      <p:pic>
        <p:nvPicPr>
          <p:cNvPr id="6" name="Picture 5">
            <a:extLst>
              <a:ext uri="{FF2B5EF4-FFF2-40B4-BE49-F238E27FC236}">
                <a16:creationId xmlns:a16="http://schemas.microsoft.com/office/drawing/2014/main" id="{41B3FDF0-BC60-05C8-670D-63A52E81C5DE}"/>
              </a:ext>
            </a:extLst>
          </p:cNvPr>
          <p:cNvPicPr>
            <a:picLocks noChangeAspect="1"/>
          </p:cNvPicPr>
          <p:nvPr/>
        </p:nvPicPr>
        <p:blipFill>
          <a:blip r:embed="rId2"/>
          <a:stretch>
            <a:fillRect/>
          </a:stretch>
        </p:blipFill>
        <p:spPr>
          <a:xfrm>
            <a:off x="6880492" y="414016"/>
            <a:ext cx="4906060" cy="4601217"/>
          </a:xfrm>
          <a:prstGeom prst="rect">
            <a:avLst/>
          </a:prstGeom>
        </p:spPr>
      </p:pic>
      <p:pic>
        <p:nvPicPr>
          <p:cNvPr id="11" name="Picture 10">
            <a:extLst>
              <a:ext uri="{FF2B5EF4-FFF2-40B4-BE49-F238E27FC236}">
                <a16:creationId xmlns:a16="http://schemas.microsoft.com/office/drawing/2014/main" id="{0830144C-C647-49FE-E5CD-3096236DB496}"/>
              </a:ext>
            </a:extLst>
          </p:cNvPr>
          <p:cNvPicPr>
            <a:picLocks noChangeAspect="1"/>
          </p:cNvPicPr>
          <p:nvPr/>
        </p:nvPicPr>
        <p:blipFill>
          <a:blip r:embed="rId3"/>
          <a:stretch>
            <a:fillRect/>
          </a:stretch>
        </p:blipFill>
        <p:spPr>
          <a:xfrm>
            <a:off x="6880492" y="5429249"/>
            <a:ext cx="4906060" cy="790685"/>
          </a:xfrm>
          <a:prstGeom prst="rect">
            <a:avLst/>
          </a:prstGeom>
        </p:spPr>
      </p:pic>
    </p:spTree>
    <p:extLst>
      <p:ext uri="{BB962C8B-B14F-4D97-AF65-F5344CB8AC3E}">
        <p14:creationId xmlns:p14="http://schemas.microsoft.com/office/powerpoint/2010/main" val="310080632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D18FF-A6EC-B645-FD9E-504D70441922}"/>
              </a:ext>
            </a:extLst>
          </p:cNvPr>
          <p:cNvSpPr>
            <a:spLocks noGrp="1"/>
          </p:cNvSpPr>
          <p:nvPr>
            <p:ph type="title"/>
          </p:nvPr>
        </p:nvSpPr>
        <p:spPr/>
        <p:txBody>
          <a:bodyPr/>
          <a:lstStyle/>
          <a:p>
            <a:r>
              <a:rPr lang="en-US" dirty="0" err="1"/>
              <a:t>Avantaje</a:t>
            </a:r>
            <a:r>
              <a:rPr lang="en-US" dirty="0"/>
              <a:t> vs </a:t>
            </a:r>
            <a:r>
              <a:rPr lang="en-US" dirty="0" err="1"/>
              <a:t>Dezavantaje</a:t>
            </a:r>
            <a:endParaRPr lang="en-GB" dirty="0"/>
          </a:p>
        </p:txBody>
      </p:sp>
      <p:sp>
        <p:nvSpPr>
          <p:cNvPr id="3" name="Text Placeholder 2">
            <a:extLst>
              <a:ext uri="{FF2B5EF4-FFF2-40B4-BE49-F238E27FC236}">
                <a16:creationId xmlns:a16="http://schemas.microsoft.com/office/drawing/2014/main" id="{CF9A947D-52E6-C548-05F2-537939E867C4}"/>
              </a:ext>
            </a:extLst>
          </p:cNvPr>
          <p:cNvSpPr>
            <a:spLocks noGrp="1"/>
          </p:cNvSpPr>
          <p:nvPr>
            <p:ph type="body" idx="1"/>
          </p:nvPr>
        </p:nvSpPr>
        <p:spPr/>
        <p:txBody>
          <a:bodyPr/>
          <a:lstStyle/>
          <a:p>
            <a:r>
              <a:rPr lang="en-US" dirty="0" err="1"/>
              <a:t>avantaje</a:t>
            </a:r>
            <a:endParaRPr lang="en-GB" dirty="0"/>
          </a:p>
        </p:txBody>
      </p:sp>
      <p:sp>
        <p:nvSpPr>
          <p:cNvPr id="4" name="Content Placeholder 3">
            <a:extLst>
              <a:ext uri="{FF2B5EF4-FFF2-40B4-BE49-F238E27FC236}">
                <a16:creationId xmlns:a16="http://schemas.microsoft.com/office/drawing/2014/main" id="{F723CAD5-5A27-6F8D-1B1B-914435FBDB10}"/>
              </a:ext>
            </a:extLst>
          </p:cNvPr>
          <p:cNvSpPr>
            <a:spLocks noGrp="1"/>
          </p:cNvSpPr>
          <p:nvPr>
            <p:ph sz="half" idx="2"/>
          </p:nvPr>
        </p:nvSpPr>
        <p:spPr/>
        <p:txBody>
          <a:bodyPr/>
          <a:lstStyle/>
          <a:p>
            <a:r>
              <a:rPr lang="en-GB" sz="1800" kern="0" dirty="0" err="1">
                <a:effectLst/>
                <a:latin typeface="Times New Roman" panose="02020603050405020304" pitchFamily="18" charset="0"/>
                <a:ea typeface="Times New Roman" panose="02020603050405020304" pitchFamily="18" charset="0"/>
              </a:rPr>
              <a:t>Sistem</a:t>
            </a:r>
            <a:r>
              <a:rPr lang="en-GB" sz="1800" kern="0" dirty="0">
                <a:effectLst/>
                <a:latin typeface="Times New Roman" panose="02020603050405020304" pitchFamily="18" charset="0"/>
                <a:ea typeface="Times New Roman" panose="02020603050405020304" pitchFamily="18" charset="0"/>
              </a:rPr>
              <a:t> static de </a:t>
            </a:r>
            <a:r>
              <a:rPr lang="en-GB" sz="1800" kern="0" dirty="0" err="1">
                <a:effectLst/>
                <a:latin typeface="Times New Roman" panose="02020603050405020304" pitchFamily="18" charset="0"/>
                <a:ea typeface="Times New Roman" panose="02020603050405020304" pitchFamily="18" charset="0"/>
              </a:rPr>
              <a:t>tipuri</a:t>
            </a:r>
            <a:endParaRPr lang="en-GB" sz="1800" kern="0" dirty="0">
              <a:effectLst/>
              <a:latin typeface="Times New Roman" panose="02020603050405020304" pitchFamily="18" charset="0"/>
              <a:ea typeface="Times New Roman" panose="02020603050405020304" pitchFamily="18" charset="0"/>
            </a:endParaRPr>
          </a:p>
          <a:p>
            <a:r>
              <a:rPr lang="en-GB" sz="1800" kern="0" dirty="0" err="1">
                <a:effectLst/>
                <a:latin typeface="Times New Roman" panose="02020603050405020304" pitchFamily="18" charset="0"/>
                <a:ea typeface="Times New Roman" panose="02020603050405020304" pitchFamily="18" charset="0"/>
              </a:rPr>
              <a:t>Autocompletare</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și</a:t>
            </a:r>
            <a:r>
              <a:rPr lang="en-GB" sz="1800" kern="0" dirty="0">
                <a:effectLst/>
                <a:latin typeface="Times New Roman" panose="02020603050405020304" pitchFamily="18" charset="0"/>
                <a:ea typeface="Times New Roman" panose="02020603050405020304" pitchFamily="18" charset="0"/>
              </a:rPr>
              <a:t> IntelliSense </a:t>
            </a:r>
            <a:r>
              <a:rPr lang="en-GB" sz="1800" kern="0" dirty="0" err="1">
                <a:effectLst/>
                <a:latin typeface="Times New Roman" panose="02020603050405020304" pitchFamily="18" charset="0"/>
                <a:ea typeface="Times New Roman" panose="02020603050405020304" pitchFamily="18" charset="0"/>
              </a:rPr>
              <a:t>îmbunătățit</a:t>
            </a:r>
            <a:endParaRPr lang="en-GB" sz="1800" kern="0" dirty="0">
              <a:effectLst/>
              <a:latin typeface="Times New Roman" panose="02020603050405020304" pitchFamily="18" charset="0"/>
              <a:ea typeface="Times New Roman" panose="02020603050405020304" pitchFamily="18" charset="0"/>
            </a:endParaRPr>
          </a:p>
          <a:p>
            <a:r>
              <a:rPr lang="en-GB" sz="1800" kern="0" dirty="0" err="1">
                <a:effectLst/>
                <a:latin typeface="Times New Roman" panose="02020603050405020304" pitchFamily="18" charset="0"/>
                <a:ea typeface="Times New Roman" panose="02020603050405020304" pitchFamily="18" charset="0"/>
              </a:rPr>
              <a:t>Suport</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excelent</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pentru</a:t>
            </a:r>
            <a:r>
              <a:rPr lang="en-GB" sz="1800" kern="0" dirty="0">
                <a:effectLst/>
                <a:latin typeface="Times New Roman" panose="02020603050405020304" pitchFamily="18" charset="0"/>
                <a:ea typeface="Times New Roman" panose="02020603050405020304" pitchFamily="18" charset="0"/>
              </a:rPr>
              <a:t> OOP </a:t>
            </a:r>
            <a:r>
              <a:rPr lang="en-GB" sz="1800" kern="0" dirty="0" err="1">
                <a:effectLst/>
                <a:latin typeface="Times New Roman" panose="02020603050405020304" pitchFamily="18" charset="0"/>
                <a:ea typeface="Times New Roman" panose="02020603050405020304" pitchFamily="18" charset="0"/>
              </a:rPr>
              <a:t>și</a:t>
            </a:r>
            <a:r>
              <a:rPr lang="en-GB" sz="1800" kern="0" dirty="0">
                <a:effectLst/>
                <a:latin typeface="Times New Roman" panose="02020603050405020304" pitchFamily="18" charset="0"/>
                <a:ea typeface="Times New Roman" panose="02020603050405020304" pitchFamily="18" charset="0"/>
              </a:rPr>
              <a:t> FP</a:t>
            </a:r>
          </a:p>
          <a:p>
            <a:r>
              <a:rPr lang="en-GB" sz="1800" kern="0" dirty="0" err="1">
                <a:effectLst/>
                <a:latin typeface="Times New Roman" panose="02020603050405020304" pitchFamily="18" charset="0"/>
                <a:ea typeface="Times New Roman" panose="02020603050405020304" pitchFamily="18" charset="0"/>
              </a:rPr>
              <a:t>Compatibilitate</a:t>
            </a:r>
            <a:r>
              <a:rPr lang="en-GB" sz="1800" kern="0" dirty="0">
                <a:effectLst/>
                <a:latin typeface="Times New Roman" panose="02020603050405020304" pitchFamily="18" charset="0"/>
                <a:ea typeface="Times New Roman" panose="02020603050405020304" pitchFamily="18" charset="0"/>
              </a:rPr>
              <a:t> cu JavaScript</a:t>
            </a:r>
          </a:p>
          <a:p>
            <a:r>
              <a:rPr lang="en-GB" sz="1800" kern="0" dirty="0" err="1">
                <a:effectLst/>
                <a:latin typeface="Times New Roman" panose="02020603050405020304" pitchFamily="18" charset="0"/>
                <a:ea typeface="Times New Roman" panose="02020603050405020304" pitchFamily="18" charset="0"/>
              </a:rPr>
              <a:t>Documentație</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și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scalabilitate</a:t>
            </a:r>
            <a:endParaRPr lang="en-GB" sz="1800" kern="0" dirty="0">
              <a:latin typeface="Times New Roman" panose="02020603050405020304" pitchFamily="18" charset="0"/>
              <a:ea typeface="Times New Roman" panose="02020603050405020304" pitchFamily="18" charset="0"/>
            </a:endParaRPr>
          </a:p>
          <a:p>
            <a:r>
              <a:rPr lang="en-GB" sz="1800" kern="0" dirty="0" err="1">
                <a:effectLst/>
                <a:latin typeface="Times New Roman" panose="02020603050405020304" pitchFamily="18" charset="0"/>
                <a:ea typeface="Times New Roman" panose="02020603050405020304" pitchFamily="18" charset="0"/>
              </a:rPr>
              <a:t>Suport</a:t>
            </a:r>
            <a:r>
              <a:rPr lang="en-GB" sz="1800" kern="0" dirty="0">
                <a:effectLst/>
                <a:latin typeface="Times New Roman" panose="02020603050405020304" pitchFamily="18" charset="0"/>
                <a:ea typeface="Times New Roman" panose="02020603050405020304" pitchFamily="18" charset="0"/>
              </a:rPr>
              <a:t> din </a:t>
            </a:r>
            <a:r>
              <a:rPr lang="en-GB" sz="1800" kern="0" dirty="0" err="1">
                <a:effectLst/>
                <a:latin typeface="Times New Roman" panose="02020603050405020304" pitchFamily="18" charset="0"/>
                <a:ea typeface="Times New Roman" panose="02020603050405020304" pitchFamily="18" charset="0"/>
              </a:rPr>
              <a:t>comunitate</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și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industrie</a:t>
            </a:r>
            <a:endParaRPr lang="en-GB" dirty="0"/>
          </a:p>
        </p:txBody>
      </p:sp>
      <p:sp>
        <p:nvSpPr>
          <p:cNvPr id="5" name="Text Placeholder 4">
            <a:extLst>
              <a:ext uri="{FF2B5EF4-FFF2-40B4-BE49-F238E27FC236}">
                <a16:creationId xmlns:a16="http://schemas.microsoft.com/office/drawing/2014/main" id="{9B6BABA8-A5A2-362F-EFE0-C9E3298F556A}"/>
              </a:ext>
            </a:extLst>
          </p:cNvPr>
          <p:cNvSpPr>
            <a:spLocks noGrp="1"/>
          </p:cNvSpPr>
          <p:nvPr>
            <p:ph type="body" sz="quarter" idx="3"/>
          </p:nvPr>
        </p:nvSpPr>
        <p:spPr/>
        <p:txBody>
          <a:bodyPr/>
          <a:lstStyle/>
          <a:p>
            <a:r>
              <a:rPr lang="en-US" dirty="0" err="1"/>
              <a:t>dezavantaje</a:t>
            </a:r>
            <a:endParaRPr lang="en-GB" dirty="0"/>
          </a:p>
        </p:txBody>
      </p:sp>
      <p:sp>
        <p:nvSpPr>
          <p:cNvPr id="6" name="Content Placeholder 5">
            <a:extLst>
              <a:ext uri="{FF2B5EF4-FFF2-40B4-BE49-F238E27FC236}">
                <a16:creationId xmlns:a16="http://schemas.microsoft.com/office/drawing/2014/main" id="{A2844E71-0630-5B6C-4183-E9145A68647A}"/>
              </a:ext>
            </a:extLst>
          </p:cNvPr>
          <p:cNvSpPr>
            <a:spLocks noGrp="1"/>
          </p:cNvSpPr>
          <p:nvPr>
            <p:ph sz="quarter" idx="4"/>
          </p:nvPr>
        </p:nvSpPr>
        <p:spPr/>
        <p:txBody>
          <a:bodyPr/>
          <a:lstStyle/>
          <a:p>
            <a:r>
              <a:rPr lang="en-GB" sz="1800" kern="0" dirty="0" err="1">
                <a:effectLst/>
                <a:latin typeface="Times New Roman" panose="02020603050405020304" pitchFamily="18" charset="0"/>
                <a:ea typeface="Times New Roman" panose="02020603050405020304" pitchFamily="18" charset="0"/>
              </a:rPr>
              <a:t>Curbă</a:t>
            </a:r>
            <a:r>
              <a:rPr lang="en-GB" sz="1800" kern="0" dirty="0">
                <a:effectLst/>
                <a:latin typeface="Times New Roman" panose="02020603050405020304" pitchFamily="18" charset="0"/>
                <a:ea typeface="Times New Roman" panose="02020603050405020304" pitchFamily="18" charset="0"/>
              </a:rPr>
              <a:t> de </a:t>
            </a:r>
            <a:r>
              <a:rPr lang="en-GB" sz="1800" kern="0" dirty="0" err="1">
                <a:effectLst/>
                <a:latin typeface="Times New Roman" panose="02020603050405020304" pitchFamily="18" charset="0"/>
                <a:ea typeface="Times New Roman" panose="02020603050405020304" pitchFamily="18" charset="0"/>
              </a:rPr>
              <a:t>învățare</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suplimentară</a:t>
            </a:r>
            <a:endParaRPr lang="en-GB" sz="1800" kern="0" dirty="0">
              <a:effectLst/>
              <a:latin typeface="Times New Roman" panose="02020603050405020304" pitchFamily="18" charset="0"/>
              <a:ea typeface="Times New Roman" panose="02020603050405020304" pitchFamily="18" charset="0"/>
            </a:endParaRPr>
          </a:p>
          <a:p>
            <a:r>
              <a:rPr lang="en-GB" sz="1800" kern="0" dirty="0">
                <a:effectLst/>
                <a:latin typeface="Times New Roman" panose="02020603050405020304" pitchFamily="18" charset="0"/>
                <a:ea typeface="Times New Roman" panose="02020603050405020304" pitchFamily="18" charset="0"/>
              </a:rPr>
              <a:t>Timp </a:t>
            </a:r>
            <a:r>
              <a:rPr lang="en-GB" sz="1800" kern="0" dirty="0" err="1">
                <a:effectLst/>
                <a:latin typeface="Times New Roman" panose="02020603050405020304" pitchFamily="18" charset="0"/>
                <a:ea typeface="Times New Roman" panose="02020603050405020304" pitchFamily="18" charset="0"/>
              </a:rPr>
              <a:t>suplimentar</a:t>
            </a:r>
            <a:r>
              <a:rPr lang="en-GB" sz="1800" kern="0" dirty="0">
                <a:effectLst/>
                <a:latin typeface="Times New Roman" panose="02020603050405020304" pitchFamily="18" charset="0"/>
                <a:ea typeface="Times New Roman" panose="02020603050405020304" pitchFamily="18" charset="0"/>
              </a:rPr>
              <a:t> de </a:t>
            </a:r>
            <a:r>
              <a:rPr lang="en-GB" sz="1800" kern="0" dirty="0" err="1">
                <a:effectLst/>
                <a:latin typeface="Times New Roman" panose="02020603050405020304" pitchFamily="18" charset="0"/>
                <a:ea typeface="Times New Roman" panose="02020603050405020304" pitchFamily="18" charset="0"/>
              </a:rPr>
              <a:t>compilare</a:t>
            </a:r>
            <a:endParaRPr lang="en-GB" sz="1800" kern="0" dirty="0">
              <a:effectLst/>
              <a:latin typeface="Times New Roman" panose="02020603050405020304" pitchFamily="18" charset="0"/>
              <a:ea typeface="Times New Roman" panose="02020603050405020304" pitchFamily="18" charset="0"/>
            </a:endParaRPr>
          </a:p>
          <a:p>
            <a:r>
              <a:rPr lang="en-GB" sz="1800" kern="0" dirty="0" err="1">
                <a:effectLst/>
                <a:latin typeface="Times New Roman" panose="02020603050405020304" pitchFamily="18" charset="0"/>
                <a:ea typeface="Times New Roman" panose="02020603050405020304" pitchFamily="18" charset="0"/>
              </a:rPr>
              <a:t>Necesitatea</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unei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configurații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mai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complexe</a:t>
            </a:r>
            <a:endParaRPr lang="en-GB" sz="1800" kern="0" dirty="0">
              <a:latin typeface="Times New Roman" panose="02020603050405020304" pitchFamily="18" charset="0"/>
              <a:ea typeface="Times New Roman" panose="02020603050405020304" pitchFamily="18" charset="0"/>
            </a:endParaRPr>
          </a:p>
          <a:p>
            <a:r>
              <a:rPr lang="en-GB" sz="1800" kern="0" dirty="0" err="1">
                <a:effectLst/>
                <a:latin typeface="Times New Roman" panose="02020603050405020304" pitchFamily="18" charset="0"/>
                <a:ea typeface="Times New Roman" panose="02020603050405020304" pitchFamily="18" charset="0"/>
              </a:rPr>
              <a:t>Posibil</a:t>
            </a:r>
            <a:r>
              <a:rPr lang="en-GB" sz="1800" kern="0" dirty="0">
                <a:effectLst/>
                <a:latin typeface="Times New Roman" panose="02020603050405020304" pitchFamily="18" charset="0"/>
                <a:ea typeface="Times New Roman" panose="02020603050405020304" pitchFamily="18" charset="0"/>
              </a:rPr>
              <a:t> cod </a:t>
            </a:r>
            <a:r>
              <a:rPr lang="en-GB" sz="1800" kern="0" dirty="0" err="1">
                <a:effectLst/>
                <a:latin typeface="Times New Roman" panose="02020603050405020304" pitchFamily="18" charset="0"/>
                <a:ea typeface="Times New Roman" panose="02020603050405020304" pitchFamily="18" charset="0"/>
              </a:rPr>
              <a:t>mai</a:t>
            </a:r>
            <a:r>
              <a:rPr lang="en-GB" sz="1800" kern="0" dirty="0">
                <a:effectLst/>
                <a:latin typeface="Times New Roman" panose="02020603050405020304" pitchFamily="18" charset="0"/>
                <a:ea typeface="Times New Roman" panose="02020603050405020304" pitchFamily="18" charset="0"/>
              </a:rPr>
              <a:t> lung </a:t>
            </a:r>
            <a:r>
              <a:rPr lang="en-GB" sz="1800" kern="0" dirty="0" err="1">
                <a:effectLst/>
                <a:latin typeface="Times New Roman" panose="02020603050405020304" pitchFamily="18" charset="0"/>
                <a:ea typeface="Times New Roman" panose="02020603050405020304" pitchFamily="18" charset="0"/>
              </a:rPr>
              <a:t>și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mai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verbos</a:t>
            </a:r>
            <a:endParaRPr lang="en-GB" sz="1800" kern="0" dirty="0">
              <a:effectLst/>
              <a:latin typeface="Times New Roman" panose="02020603050405020304" pitchFamily="18" charset="0"/>
              <a:ea typeface="Times New Roman" panose="02020603050405020304" pitchFamily="18" charset="0"/>
            </a:endParaRPr>
          </a:p>
          <a:p>
            <a:r>
              <a:rPr lang="en-GB" sz="1800" kern="0" dirty="0" err="1">
                <a:effectLst/>
                <a:latin typeface="Times New Roman" panose="02020603050405020304" pitchFamily="18" charset="0"/>
                <a:ea typeface="Times New Roman" panose="02020603050405020304" pitchFamily="18" charset="0"/>
              </a:rPr>
              <a:t>Dependință</a:t>
            </a:r>
            <a:r>
              <a:rPr lang="en-GB" sz="1800" kern="0" dirty="0">
                <a:effectLst/>
                <a:latin typeface="Times New Roman" panose="02020603050405020304" pitchFamily="18" charset="0"/>
                <a:ea typeface="Times New Roman" panose="02020603050405020304" pitchFamily="18" charset="0"/>
              </a:rPr>
              <a:t> de ecosystem</a:t>
            </a:r>
            <a:endParaRPr lang="en-GB" sz="1800" kern="0" dirty="0">
              <a:latin typeface="Times New Roman" panose="02020603050405020304" pitchFamily="18" charset="0"/>
              <a:ea typeface="Times New Roman" panose="02020603050405020304" pitchFamily="18" charset="0"/>
            </a:endParaRPr>
          </a:p>
          <a:p>
            <a:r>
              <a:rPr lang="en-GB" sz="1800" kern="0" dirty="0">
                <a:effectLst/>
                <a:latin typeface="Times New Roman" panose="02020603050405020304" pitchFamily="18" charset="0"/>
                <a:ea typeface="Times New Roman" panose="02020603050405020304" pitchFamily="18" charset="0"/>
              </a:rPr>
              <a:t>Debugging </a:t>
            </a:r>
            <a:r>
              <a:rPr lang="en-GB" sz="1800" kern="0" dirty="0" err="1">
                <a:effectLst/>
                <a:latin typeface="Times New Roman" panose="02020603050405020304" pitchFamily="18" charset="0"/>
                <a:ea typeface="Times New Roman" panose="02020603050405020304" pitchFamily="18" charset="0"/>
              </a:rPr>
              <a:t>mai</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dificil</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în</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unele</a:t>
            </a:r>
            <a:r>
              <a:rPr lang="en-GB" sz="1800" kern="0" dirty="0">
                <a:effectLst/>
                <a:latin typeface="Times New Roman" panose="02020603050405020304" pitchFamily="18" charset="0"/>
                <a:ea typeface="Times New Roman" panose="02020603050405020304" pitchFamily="18" charset="0"/>
              </a:rPr>
              <a:t> </a:t>
            </a:r>
            <a:r>
              <a:rPr lang="en-GB" sz="1800" kern="0" dirty="0" err="1">
                <a:effectLst/>
                <a:latin typeface="Times New Roman" panose="02020603050405020304" pitchFamily="18" charset="0"/>
                <a:ea typeface="Times New Roman" panose="02020603050405020304" pitchFamily="18" charset="0"/>
              </a:rPr>
              <a:t>cazuri</a:t>
            </a:r>
            <a:endParaRPr lang="en-GB" dirty="0"/>
          </a:p>
        </p:txBody>
      </p:sp>
      <p:pic>
        <p:nvPicPr>
          <p:cNvPr id="7" name="Picture 6" descr="A blue and yellow circle with black text&#10;&#10;AI-generated content may be incorrect.">
            <a:extLst>
              <a:ext uri="{FF2B5EF4-FFF2-40B4-BE49-F238E27FC236}">
                <a16:creationId xmlns:a16="http://schemas.microsoft.com/office/drawing/2014/main" id="{64537C2C-3BF8-8E9F-C8F5-FA3D65311E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8262" y="42644"/>
            <a:ext cx="2283738" cy="2273588"/>
          </a:xfrm>
          <a:prstGeom prst="rect">
            <a:avLst/>
          </a:prstGeom>
        </p:spPr>
      </p:pic>
    </p:spTree>
    <p:extLst>
      <p:ext uri="{BB962C8B-B14F-4D97-AF65-F5344CB8AC3E}">
        <p14:creationId xmlns:p14="http://schemas.microsoft.com/office/powerpoint/2010/main" val="392891561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EC54A0C3-5130-F256-D151-030A909A4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5E1C59-4004-8E8E-1552-1ED638B1342B}"/>
              </a:ext>
            </a:extLst>
          </p:cNvPr>
          <p:cNvSpPr>
            <a:spLocks noGrp="1"/>
          </p:cNvSpPr>
          <p:nvPr>
            <p:ph type="title"/>
          </p:nvPr>
        </p:nvSpPr>
        <p:spPr>
          <a:xfrm>
            <a:off x="5997791" y="603504"/>
            <a:ext cx="5490436" cy="1527048"/>
          </a:xfrm>
        </p:spPr>
        <p:txBody>
          <a:bodyPr anchor="b">
            <a:normAutofit/>
          </a:bodyPr>
          <a:lstStyle/>
          <a:p>
            <a:r>
              <a:rPr lang="en-US"/>
              <a:t>Analiza comparativa cu alte limbaje</a:t>
            </a:r>
            <a:endParaRPr lang="en-GB" dirty="0"/>
          </a:p>
        </p:txBody>
      </p:sp>
      <p:pic>
        <p:nvPicPr>
          <p:cNvPr id="5" name="Picture 4" descr="A screen shot of a computer code&#10;&#10;AI-generated content may be incorrect.">
            <a:extLst>
              <a:ext uri="{FF2B5EF4-FFF2-40B4-BE49-F238E27FC236}">
                <a16:creationId xmlns:a16="http://schemas.microsoft.com/office/drawing/2014/main" id="{5B360448-0A12-5A77-8ADA-33BF5BF9B0AA}"/>
              </a:ext>
            </a:extLst>
          </p:cNvPr>
          <p:cNvPicPr>
            <a:picLocks noChangeAspect="1"/>
          </p:cNvPicPr>
          <p:nvPr/>
        </p:nvPicPr>
        <p:blipFill>
          <a:blip r:embed="rId2"/>
          <a:stretch>
            <a:fillRect/>
          </a:stretch>
        </p:blipFill>
        <p:spPr>
          <a:xfrm>
            <a:off x="419101" y="720786"/>
            <a:ext cx="4749246" cy="2596781"/>
          </a:xfrm>
          <a:prstGeom prst="rect">
            <a:avLst/>
          </a:prstGeom>
        </p:spPr>
      </p:pic>
      <p:pic>
        <p:nvPicPr>
          <p:cNvPr id="7" name="Picture 6" descr="A screen shot of a computer code&#10;&#10;AI-generated content may be incorrect.">
            <a:extLst>
              <a:ext uri="{FF2B5EF4-FFF2-40B4-BE49-F238E27FC236}">
                <a16:creationId xmlns:a16="http://schemas.microsoft.com/office/drawing/2014/main" id="{4F21D7BE-2E62-EF56-1918-AD956B1556F7}"/>
              </a:ext>
            </a:extLst>
          </p:cNvPr>
          <p:cNvPicPr>
            <a:picLocks noChangeAspect="1"/>
          </p:cNvPicPr>
          <p:nvPr/>
        </p:nvPicPr>
        <p:blipFill>
          <a:blip r:embed="rId3"/>
          <a:stretch>
            <a:fillRect/>
          </a:stretch>
        </p:blipFill>
        <p:spPr>
          <a:xfrm>
            <a:off x="419101" y="3553637"/>
            <a:ext cx="4749247" cy="1353535"/>
          </a:xfrm>
          <a:prstGeom prst="rect">
            <a:avLst/>
          </a:prstGeom>
        </p:spPr>
      </p:pic>
      <p:sp>
        <p:nvSpPr>
          <p:cNvPr id="31" name="Content Placeholder 2">
            <a:extLst>
              <a:ext uri="{FF2B5EF4-FFF2-40B4-BE49-F238E27FC236}">
                <a16:creationId xmlns:a16="http://schemas.microsoft.com/office/drawing/2014/main" id="{8C2F2916-21D3-47CA-E3A0-0DF3306BBC91}"/>
              </a:ext>
            </a:extLst>
          </p:cNvPr>
          <p:cNvSpPr>
            <a:spLocks noGrp="1"/>
          </p:cNvSpPr>
          <p:nvPr>
            <p:ph idx="1"/>
          </p:nvPr>
        </p:nvSpPr>
        <p:spPr>
          <a:xfrm>
            <a:off x="6003234" y="2212848"/>
            <a:ext cx="5490436" cy="4096512"/>
          </a:xfrm>
        </p:spPr>
        <p:txBody>
          <a:bodyPr>
            <a:normAutofit/>
          </a:bodyPr>
          <a:lstStyle/>
          <a:p>
            <a:pPr>
              <a:lnSpc>
                <a:spcPct val="110000"/>
              </a:lnSpc>
              <a:spcAft>
                <a:spcPts val="1000"/>
              </a:spcAft>
            </a:pPr>
            <a:r>
              <a:rPr lang="en-GB" sz="1300">
                <a:effectLst/>
                <a:latin typeface="Times New Roman" panose="02020603050405020304" pitchFamily="18" charset="0"/>
                <a:ea typeface="Times New Roman" panose="02020603050405020304" pitchFamily="18" charset="0"/>
                <a:cs typeface="Times New Roman" panose="02020603050405020304" pitchFamily="18" charset="0"/>
              </a:rPr>
              <a:t>Față de JavaScript – TypeScript oferă siguranța tipurilor și instrumente avansate de dezvoltare, dar necesită un proces de compilare. JS este mai rapid pentru prototipare, dar mai predispus la erori în aplicații mari.</a:t>
            </a:r>
            <a:endParaRPr lang="en-GB" sz="130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10000"/>
              </a:lnSpc>
              <a:spcAft>
                <a:spcPts val="1000"/>
              </a:spcAft>
              <a:buNone/>
            </a:pPr>
            <a:r>
              <a:rPr lang="en-GB" sz="1300">
                <a:effectLst/>
                <a:latin typeface="Times New Roman" panose="02020603050405020304" pitchFamily="18" charset="0"/>
                <a:ea typeface="Times New Roman" panose="02020603050405020304" pitchFamily="18" charset="0"/>
                <a:cs typeface="Times New Roman" panose="02020603050405020304" pitchFamily="18" charset="0"/>
              </a:rPr>
              <a:t>• 	Față de Java – TypeScript este mai flexibil, mai concis și mai ușor de învățat. Java are un ecosistem matur și mai multe funcționalități enterprise. În schimb, TS permite un ciclu de dezvoltare mai rapid pentru aplicații web moderne.</a:t>
            </a:r>
            <a:endParaRPr lang="en-GB" sz="130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10000"/>
              </a:lnSpc>
              <a:spcAft>
                <a:spcPts val="1000"/>
              </a:spcAft>
              <a:buNone/>
            </a:pPr>
            <a:r>
              <a:rPr lang="en-GB" sz="1300">
                <a:effectLst/>
                <a:latin typeface="Times New Roman" panose="02020603050405020304" pitchFamily="18" charset="0"/>
                <a:ea typeface="Times New Roman" panose="02020603050405020304" pitchFamily="18" charset="0"/>
                <a:cs typeface="Times New Roman" panose="02020603050405020304" pitchFamily="18" charset="0"/>
              </a:rPr>
              <a:t>• 	Față de Python – Python este simplu și expresiv, dar dinamic. TypeScript adaugă siguranța tipurilor fără a compromite expresivitatea, fiind mai potrivit pentru aplicații frontend sau full-stack moderne.</a:t>
            </a:r>
            <a:endParaRPr lang="en-GB" sz="130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10000"/>
              </a:lnSpc>
              <a:spcAft>
                <a:spcPts val="1000"/>
              </a:spcAft>
            </a:pPr>
            <a:r>
              <a:rPr lang="en-GB" sz="1300">
                <a:effectLst/>
                <a:latin typeface="Times New Roman" panose="02020603050405020304" pitchFamily="18" charset="0"/>
                <a:ea typeface="Times New Roman" panose="02020603050405020304" pitchFamily="18" charset="0"/>
                <a:cs typeface="Times New Roman" panose="02020603050405020304" pitchFamily="18" charset="0"/>
              </a:rPr>
              <a:t>Față de C# – Ambele limbaje împărtășesc concepte similare (interfețe, clase, generice). C# este mai puternic pe partea de backend enterprise, dar TypeScript este mai potrivit pentru aplicații web moderne.</a:t>
            </a:r>
            <a:endParaRPr lang="en-GB" sz="130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10000"/>
              </a:lnSpc>
            </a:pPr>
            <a:endParaRPr lang="en-GB" sz="1300"/>
          </a:p>
        </p:txBody>
      </p:sp>
    </p:spTree>
    <p:extLst>
      <p:ext uri="{BB962C8B-B14F-4D97-AF65-F5344CB8AC3E}">
        <p14:creationId xmlns:p14="http://schemas.microsoft.com/office/powerpoint/2010/main" val="23519385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D4D02DC-86D0-86A9-4404-26B11AF64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1C9EF5-0DBC-358B-FB01-3493E761B338}"/>
              </a:ext>
            </a:extLst>
          </p:cNvPr>
          <p:cNvSpPr>
            <a:spLocks noGrp="1"/>
          </p:cNvSpPr>
          <p:nvPr>
            <p:ph type="ctrTitle"/>
          </p:nvPr>
        </p:nvSpPr>
        <p:spPr>
          <a:xfrm>
            <a:off x="2494392" y="1791147"/>
            <a:ext cx="7202862" cy="1952369"/>
          </a:xfrm>
        </p:spPr>
        <p:txBody>
          <a:bodyPr>
            <a:normAutofit/>
          </a:bodyPr>
          <a:lstStyle/>
          <a:p>
            <a:r>
              <a:rPr lang="en-US" sz="4800"/>
              <a:t>Problema</a:t>
            </a:r>
            <a:endParaRPr lang="en-GB" sz="4800"/>
          </a:p>
        </p:txBody>
      </p:sp>
      <p:sp>
        <p:nvSpPr>
          <p:cNvPr id="3" name="Subtitle 2">
            <a:extLst>
              <a:ext uri="{FF2B5EF4-FFF2-40B4-BE49-F238E27FC236}">
                <a16:creationId xmlns:a16="http://schemas.microsoft.com/office/drawing/2014/main" id="{2A10EAB9-4D9B-8D34-4BFA-C18B9C8B3CB5}"/>
              </a:ext>
            </a:extLst>
          </p:cNvPr>
          <p:cNvSpPr>
            <a:spLocks noGrp="1"/>
          </p:cNvSpPr>
          <p:nvPr>
            <p:ph type="subTitle" idx="1"/>
          </p:nvPr>
        </p:nvSpPr>
        <p:spPr>
          <a:xfrm>
            <a:off x="2494392" y="3843708"/>
            <a:ext cx="7202862" cy="1414091"/>
          </a:xfrm>
        </p:spPr>
        <p:txBody>
          <a:bodyPr>
            <a:normAutofit/>
          </a:bodyPr>
          <a:lstStyle/>
          <a:p>
            <a:r>
              <a:rPr lang="en-US"/>
              <a:t>(Ciurul lui Erathostenes)</a:t>
            </a:r>
            <a:endParaRPr lang="en-GB"/>
          </a:p>
        </p:txBody>
      </p:sp>
    </p:spTree>
    <p:extLst>
      <p:ext uri="{BB962C8B-B14F-4D97-AF65-F5344CB8AC3E}">
        <p14:creationId xmlns:p14="http://schemas.microsoft.com/office/powerpoint/2010/main" val="19474455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97B36-E406-D419-E4C0-C1FB6FC226EE}"/>
              </a:ext>
            </a:extLst>
          </p:cNvPr>
          <p:cNvSpPr>
            <a:spLocks noGrp="1"/>
          </p:cNvSpPr>
          <p:nvPr>
            <p:ph type="title"/>
          </p:nvPr>
        </p:nvSpPr>
        <p:spPr/>
        <p:txBody>
          <a:bodyPr/>
          <a:lstStyle/>
          <a:p>
            <a:r>
              <a:rPr lang="en-US" dirty="0"/>
              <a:t>Analiza </a:t>
            </a:r>
            <a:r>
              <a:rPr lang="en-US" dirty="0" err="1"/>
              <a:t>si</a:t>
            </a:r>
            <a:r>
              <a:rPr lang="en-US" dirty="0"/>
              <a:t> </a:t>
            </a:r>
            <a:r>
              <a:rPr lang="en-US" dirty="0" err="1"/>
              <a:t>proiectarea</a:t>
            </a:r>
            <a:r>
              <a:rPr lang="en-US" dirty="0"/>
              <a:t> din </a:t>
            </a:r>
            <a:r>
              <a:rPr lang="en-US" dirty="0" err="1"/>
              <a:t>perspectiva</a:t>
            </a:r>
            <a:r>
              <a:rPr lang="en-US" dirty="0"/>
              <a:t> </a:t>
            </a:r>
            <a:r>
              <a:rPr lang="en-US" dirty="0" err="1"/>
              <a:t>paradigmelor</a:t>
            </a:r>
            <a:r>
              <a:rPr lang="en-US" dirty="0"/>
              <a:t> de </a:t>
            </a:r>
            <a:r>
              <a:rPr lang="en-US" dirty="0" err="1"/>
              <a:t>programare</a:t>
            </a:r>
            <a:r>
              <a:rPr lang="en-US" dirty="0"/>
              <a:t> implicate</a:t>
            </a:r>
            <a:endParaRPr lang="en-GB" dirty="0"/>
          </a:p>
        </p:txBody>
      </p:sp>
      <p:sp>
        <p:nvSpPr>
          <p:cNvPr id="3" name="Text Placeholder 2">
            <a:extLst>
              <a:ext uri="{FF2B5EF4-FFF2-40B4-BE49-F238E27FC236}">
                <a16:creationId xmlns:a16="http://schemas.microsoft.com/office/drawing/2014/main" id="{BA26D250-E2F1-A7DB-6CB0-CC33B20CE537}"/>
              </a:ext>
            </a:extLst>
          </p:cNvPr>
          <p:cNvSpPr>
            <a:spLocks noGrp="1"/>
          </p:cNvSpPr>
          <p:nvPr>
            <p:ph type="body" idx="1"/>
          </p:nvPr>
        </p:nvSpPr>
        <p:spPr/>
        <p:txBody>
          <a:bodyPr/>
          <a:lstStyle/>
          <a:p>
            <a:r>
              <a:rPr lang="ro-MD" sz="1800" i="1" kern="0" dirty="0">
                <a:effectLst/>
                <a:latin typeface="Aptos" panose="020B0004020202020204" pitchFamily="34" charset="0"/>
                <a:ea typeface="Times New Roman" panose="02020603050405020304" pitchFamily="18" charset="0"/>
                <a:cs typeface="Times New Roman" panose="02020603050405020304" pitchFamily="18" charset="0"/>
              </a:rPr>
              <a:t>Paradigma Imperativă</a:t>
            </a:r>
            <a:endParaRPr lang="en-GB" dirty="0"/>
          </a:p>
        </p:txBody>
      </p:sp>
      <p:sp>
        <p:nvSpPr>
          <p:cNvPr id="5" name="Text Placeholder 4">
            <a:extLst>
              <a:ext uri="{FF2B5EF4-FFF2-40B4-BE49-F238E27FC236}">
                <a16:creationId xmlns:a16="http://schemas.microsoft.com/office/drawing/2014/main" id="{1E9470C8-1E43-DE7A-7457-38608A23D2C6}"/>
              </a:ext>
            </a:extLst>
          </p:cNvPr>
          <p:cNvSpPr>
            <a:spLocks noGrp="1"/>
          </p:cNvSpPr>
          <p:nvPr>
            <p:ph type="body" sz="quarter" idx="3"/>
          </p:nvPr>
        </p:nvSpPr>
        <p:spPr/>
        <p:txBody>
          <a:bodyPr/>
          <a:lstStyle/>
          <a:p>
            <a:r>
              <a:rPr lang="ro-MD" sz="1800" i="1" kern="0" dirty="0">
                <a:effectLst/>
                <a:latin typeface="Aptos" panose="020B0004020202020204" pitchFamily="34" charset="0"/>
                <a:ea typeface="Times New Roman" panose="02020603050405020304" pitchFamily="18" charset="0"/>
                <a:cs typeface="Times New Roman" panose="02020603050405020304" pitchFamily="18" charset="0"/>
              </a:rPr>
              <a:t>Paradigma Funcțională</a:t>
            </a:r>
            <a:endParaRPr lang="en-GB" dirty="0"/>
          </a:p>
        </p:txBody>
      </p:sp>
      <p:pic>
        <p:nvPicPr>
          <p:cNvPr id="7" name="Content Placeholder 6" descr="A computer screen shot of a program code&#10;&#10;AI-generated content may be incorrect.">
            <a:extLst>
              <a:ext uri="{FF2B5EF4-FFF2-40B4-BE49-F238E27FC236}">
                <a16:creationId xmlns:a16="http://schemas.microsoft.com/office/drawing/2014/main" id="{7C75BE84-A06E-8096-9C78-DA30D3F15867}"/>
              </a:ext>
            </a:extLst>
          </p:cNvPr>
          <p:cNvPicPr>
            <a:picLocks noGrp="1" noChangeAspect="1"/>
          </p:cNvPicPr>
          <p:nvPr>
            <p:ph sz="half" idx="2"/>
          </p:nvPr>
        </p:nvPicPr>
        <p:blipFill>
          <a:blip r:embed="rId2"/>
          <a:stretch>
            <a:fillRect/>
          </a:stretch>
        </p:blipFill>
        <p:spPr>
          <a:xfrm>
            <a:off x="609600" y="2349763"/>
            <a:ext cx="4406020" cy="3990506"/>
          </a:xfrm>
          <a:prstGeom prst="rect">
            <a:avLst/>
          </a:prstGeom>
        </p:spPr>
      </p:pic>
      <p:pic>
        <p:nvPicPr>
          <p:cNvPr id="8" name="Content Placeholder 7" descr="A computer screen with text and numbers&#10;&#10;AI-generated content may be incorrect.">
            <a:extLst>
              <a:ext uri="{FF2B5EF4-FFF2-40B4-BE49-F238E27FC236}">
                <a16:creationId xmlns:a16="http://schemas.microsoft.com/office/drawing/2014/main" id="{DCA6C6E4-6804-4FEE-E687-4667F1E2ABF6}"/>
              </a:ext>
            </a:extLst>
          </p:cNvPr>
          <p:cNvPicPr>
            <a:picLocks noGrp="1" noChangeAspect="1"/>
          </p:cNvPicPr>
          <p:nvPr>
            <p:ph sz="quarter" idx="4"/>
          </p:nvPr>
        </p:nvPicPr>
        <p:blipFill>
          <a:blip r:embed="rId3"/>
          <a:stretch>
            <a:fillRect/>
          </a:stretch>
        </p:blipFill>
        <p:spPr>
          <a:xfrm>
            <a:off x="6172200" y="2349763"/>
            <a:ext cx="5183188" cy="2543452"/>
          </a:xfrm>
          <a:prstGeom prst="rect">
            <a:avLst/>
          </a:prstGeom>
        </p:spPr>
      </p:pic>
    </p:spTree>
    <p:extLst>
      <p:ext uri="{BB962C8B-B14F-4D97-AF65-F5344CB8AC3E}">
        <p14:creationId xmlns:p14="http://schemas.microsoft.com/office/powerpoint/2010/main" val="131060921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5E81D-AFFF-D13F-C3EF-2787D0E690D1}"/>
              </a:ext>
            </a:extLst>
          </p:cNvPr>
          <p:cNvSpPr>
            <a:spLocks noGrp="1"/>
          </p:cNvSpPr>
          <p:nvPr>
            <p:ph type="title"/>
          </p:nvPr>
        </p:nvSpPr>
        <p:spPr/>
        <p:txBody>
          <a:bodyPr/>
          <a:lstStyle/>
          <a:p>
            <a:r>
              <a:rPr lang="en-US" dirty="0"/>
              <a:t>Analiza </a:t>
            </a:r>
            <a:r>
              <a:rPr lang="en-US" dirty="0" err="1"/>
              <a:t>si</a:t>
            </a:r>
            <a:r>
              <a:rPr lang="en-US" dirty="0"/>
              <a:t> </a:t>
            </a:r>
            <a:r>
              <a:rPr lang="en-US" dirty="0" err="1"/>
              <a:t>proiectarea</a:t>
            </a:r>
            <a:r>
              <a:rPr lang="en-US" dirty="0"/>
              <a:t> din </a:t>
            </a:r>
            <a:r>
              <a:rPr lang="en-US" dirty="0" err="1"/>
              <a:t>perspectiva</a:t>
            </a:r>
            <a:r>
              <a:rPr lang="en-US" dirty="0"/>
              <a:t> </a:t>
            </a:r>
            <a:r>
              <a:rPr lang="en-US" dirty="0" err="1"/>
              <a:t>paradigmelor</a:t>
            </a:r>
            <a:r>
              <a:rPr lang="en-US" dirty="0"/>
              <a:t> de </a:t>
            </a:r>
            <a:r>
              <a:rPr lang="en-US" dirty="0" err="1"/>
              <a:t>programare</a:t>
            </a:r>
            <a:r>
              <a:rPr lang="en-US" dirty="0"/>
              <a:t> implicate</a:t>
            </a:r>
            <a:endParaRPr lang="en-GB" dirty="0"/>
          </a:p>
        </p:txBody>
      </p:sp>
      <p:sp>
        <p:nvSpPr>
          <p:cNvPr id="3" name="Text Placeholder 2">
            <a:extLst>
              <a:ext uri="{FF2B5EF4-FFF2-40B4-BE49-F238E27FC236}">
                <a16:creationId xmlns:a16="http://schemas.microsoft.com/office/drawing/2014/main" id="{A3FD8D24-8A60-4A05-7BA5-8C7BDFB7A407}"/>
              </a:ext>
            </a:extLst>
          </p:cNvPr>
          <p:cNvSpPr>
            <a:spLocks noGrp="1"/>
          </p:cNvSpPr>
          <p:nvPr>
            <p:ph type="body" idx="1"/>
          </p:nvPr>
        </p:nvSpPr>
        <p:spPr/>
        <p:txBody>
          <a:bodyPr/>
          <a:lstStyle/>
          <a:p>
            <a:r>
              <a:rPr lang="ro-MD" sz="2000" i="1" kern="0" dirty="0">
                <a:effectLst/>
                <a:latin typeface="Aptos" panose="020B0004020202020204" pitchFamily="34" charset="0"/>
                <a:ea typeface="Times New Roman" panose="02020603050405020304" pitchFamily="18" charset="0"/>
                <a:cs typeface="Times New Roman" panose="02020603050405020304" pitchFamily="18" charset="0"/>
              </a:rPr>
              <a:t>Paradigma Imperativă</a:t>
            </a:r>
            <a:endParaRPr lang="en-GB" dirty="0"/>
          </a:p>
        </p:txBody>
      </p:sp>
      <p:sp>
        <p:nvSpPr>
          <p:cNvPr id="4" name="Content Placeholder 3">
            <a:extLst>
              <a:ext uri="{FF2B5EF4-FFF2-40B4-BE49-F238E27FC236}">
                <a16:creationId xmlns:a16="http://schemas.microsoft.com/office/drawing/2014/main" id="{E2727B0A-0242-A6CF-B6AD-5516A64322F0}"/>
              </a:ext>
            </a:extLst>
          </p:cNvPr>
          <p:cNvSpPr>
            <a:spLocks noGrp="1"/>
          </p:cNvSpPr>
          <p:nvPr>
            <p:ph sz="half" idx="2"/>
          </p:nvPr>
        </p:nvSpPr>
        <p:spPr/>
        <p:txBody>
          <a:bodyPr>
            <a:normAutofit fontScale="92500" lnSpcReduction="10000"/>
          </a:bodyPr>
          <a:lstStyle/>
          <a:p>
            <a:r>
              <a:rPr lang="en-US" dirty="0"/>
              <a:t>Stare interna: </a:t>
            </a:r>
            <a:r>
              <a:rPr lang="en-US" dirty="0" err="1"/>
              <a:t>tabloul</a:t>
            </a:r>
            <a:r>
              <a:rPr lang="en-US" dirty="0"/>
              <a:t> primes[] de </a:t>
            </a:r>
            <a:r>
              <a:rPr lang="en-US" dirty="0" err="1"/>
              <a:t>booleni</a:t>
            </a:r>
            <a:r>
              <a:rPr lang="en-US" dirty="0"/>
              <a:t> – true initial, cu 0 </a:t>
            </a:r>
            <a:r>
              <a:rPr lang="en-US" dirty="0" err="1"/>
              <a:t>si</a:t>
            </a:r>
            <a:r>
              <a:rPr lang="en-US" dirty="0"/>
              <a:t> 1 </a:t>
            </a:r>
            <a:r>
              <a:rPr lang="en-US" dirty="0" err="1"/>
              <a:t>marcate</a:t>
            </a:r>
            <a:r>
              <a:rPr lang="en-US" dirty="0"/>
              <a:t> ca </a:t>
            </a:r>
            <a:r>
              <a:rPr lang="en-US" dirty="0" err="1"/>
              <a:t>fals</a:t>
            </a:r>
            <a:endParaRPr lang="en-US" dirty="0"/>
          </a:p>
          <a:p>
            <a:r>
              <a:rPr lang="en-US" dirty="0" err="1"/>
              <a:t>Iteratie</a:t>
            </a:r>
            <a:r>
              <a:rPr lang="en-US" dirty="0"/>
              <a:t>: se </a:t>
            </a:r>
            <a:r>
              <a:rPr lang="en-US" dirty="0" err="1"/>
              <a:t>parcurge</a:t>
            </a:r>
            <a:r>
              <a:rPr lang="en-US" dirty="0"/>
              <a:t> [2, n]; </a:t>
            </a:r>
            <a:r>
              <a:rPr lang="en-US" dirty="0" err="1"/>
              <a:t>pentru</a:t>
            </a:r>
            <a:r>
              <a:rPr lang="en-US" dirty="0"/>
              <a:t> </a:t>
            </a:r>
            <a:r>
              <a:rPr lang="en-US" dirty="0" err="1"/>
              <a:t>fiecare</a:t>
            </a:r>
            <a:r>
              <a:rPr lang="en-US" dirty="0"/>
              <a:t> </a:t>
            </a:r>
            <a:r>
              <a:rPr lang="en-US" dirty="0" err="1"/>
              <a:t>numar</a:t>
            </a:r>
            <a:r>
              <a:rPr lang="en-US" dirty="0"/>
              <a:t> prim, se </a:t>
            </a:r>
            <a:r>
              <a:rPr lang="en-US" dirty="0" err="1"/>
              <a:t>marcheaza</a:t>
            </a:r>
            <a:r>
              <a:rPr lang="en-US" dirty="0"/>
              <a:t> </a:t>
            </a:r>
            <a:r>
              <a:rPr lang="en-US" dirty="0" err="1"/>
              <a:t>multiplii</a:t>
            </a:r>
            <a:r>
              <a:rPr lang="en-US" dirty="0"/>
              <a:t> </a:t>
            </a:r>
            <a:r>
              <a:rPr lang="en-US" dirty="0" err="1"/>
              <a:t>sai</a:t>
            </a:r>
            <a:r>
              <a:rPr lang="en-US" dirty="0"/>
              <a:t> ca false</a:t>
            </a:r>
          </a:p>
          <a:p>
            <a:r>
              <a:rPr lang="en-US" dirty="0" err="1"/>
              <a:t>Modificare</a:t>
            </a:r>
            <a:r>
              <a:rPr lang="en-US" dirty="0"/>
              <a:t> </a:t>
            </a:r>
            <a:r>
              <a:rPr lang="en-US" dirty="0" err="1"/>
              <a:t>directa</a:t>
            </a:r>
            <a:r>
              <a:rPr lang="en-US" dirty="0"/>
              <a:t>: </a:t>
            </a:r>
            <a:r>
              <a:rPr lang="en-US" dirty="0" err="1"/>
              <a:t>Starea</a:t>
            </a:r>
            <a:r>
              <a:rPr lang="en-US" dirty="0"/>
              <a:t> </a:t>
            </a:r>
            <a:r>
              <a:rPr lang="en-US" dirty="0" err="1"/>
              <a:t>tabloului</a:t>
            </a:r>
            <a:r>
              <a:rPr lang="en-US" dirty="0"/>
              <a:t> </a:t>
            </a:r>
            <a:r>
              <a:rPr lang="en-US" dirty="0" err="1"/>
              <a:t>este</a:t>
            </a:r>
            <a:r>
              <a:rPr lang="en-US" dirty="0"/>
              <a:t> </a:t>
            </a:r>
            <a:r>
              <a:rPr lang="en-US" dirty="0" err="1"/>
              <a:t>actualizata</a:t>
            </a:r>
            <a:r>
              <a:rPr lang="en-US" dirty="0"/>
              <a:t> pas cu pas (</a:t>
            </a:r>
            <a:r>
              <a:rPr lang="en-US" dirty="0" err="1"/>
              <a:t>comportament</a:t>
            </a:r>
            <a:r>
              <a:rPr lang="en-US" dirty="0"/>
              <a:t> </a:t>
            </a:r>
            <a:r>
              <a:rPr lang="en-US" dirty="0" err="1"/>
              <a:t>imperativ</a:t>
            </a:r>
            <a:r>
              <a:rPr lang="en-US" dirty="0"/>
              <a:t>)</a:t>
            </a:r>
          </a:p>
          <a:p>
            <a:r>
              <a:rPr lang="en-US" dirty="0" err="1"/>
              <a:t>Rezultat</a:t>
            </a:r>
            <a:r>
              <a:rPr lang="en-US" dirty="0"/>
              <a:t>: se </a:t>
            </a:r>
            <a:r>
              <a:rPr lang="en-US" dirty="0" err="1"/>
              <a:t>colecteaza</a:t>
            </a:r>
            <a:r>
              <a:rPr lang="en-US" dirty="0"/>
              <a:t> </a:t>
            </a:r>
            <a:r>
              <a:rPr lang="en-US" dirty="0" err="1"/>
              <a:t>valorile</a:t>
            </a:r>
            <a:r>
              <a:rPr lang="en-US" dirty="0"/>
              <a:t> </a:t>
            </a:r>
            <a:r>
              <a:rPr lang="en-US" dirty="0" err="1"/>
              <a:t>ramase</a:t>
            </a:r>
            <a:r>
              <a:rPr lang="en-US" dirty="0"/>
              <a:t> true </a:t>
            </a:r>
            <a:r>
              <a:rPr lang="en-US" dirty="0" err="1"/>
              <a:t>intr</a:t>
            </a:r>
            <a:r>
              <a:rPr lang="en-US" dirty="0"/>
              <a:t>-un nou </a:t>
            </a:r>
            <a:r>
              <a:rPr lang="en-US" dirty="0" err="1"/>
              <a:t>tablou</a:t>
            </a:r>
            <a:r>
              <a:rPr lang="en-US" dirty="0"/>
              <a:t> result</a:t>
            </a:r>
            <a:endParaRPr lang="en-GB" dirty="0"/>
          </a:p>
          <a:p>
            <a:endParaRPr lang="en-GB" dirty="0"/>
          </a:p>
        </p:txBody>
      </p:sp>
      <p:sp>
        <p:nvSpPr>
          <p:cNvPr id="5" name="Text Placeholder 4">
            <a:extLst>
              <a:ext uri="{FF2B5EF4-FFF2-40B4-BE49-F238E27FC236}">
                <a16:creationId xmlns:a16="http://schemas.microsoft.com/office/drawing/2014/main" id="{6DE84191-25D5-2B64-878E-A0928CDF9BC5}"/>
              </a:ext>
            </a:extLst>
          </p:cNvPr>
          <p:cNvSpPr>
            <a:spLocks noGrp="1"/>
          </p:cNvSpPr>
          <p:nvPr>
            <p:ph type="body" sz="quarter" idx="3"/>
          </p:nvPr>
        </p:nvSpPr>
        <p:spPr/>
        <p:txBody>
          <a:bodyPr/>
          <a:lstStyle/>
          <a:p>
            <a:r>
              <a:rPr lang="ro-MD" sz="2000" i="1" kern="0" dirty="0">
                <a:effectLst/>
                <a:latin typeface="Aptos" panose="020B0004020202020204" pitchFamily="34" charset="0"/>
                <a:ea typeface="Times New Roman" panose="02020603050405020304" pitchFamily="18" charset="0"/>
                <a:cs typeface="Times New Roman" panose="02020603050405020304" pitchFamily="18" charset="0"/>
              </a:rPr>
              <a:t>Paradigma Funcțională</a:t>
            </a:r>
            <a:endParaRPr lang="en-GB" dirty="0"/>
          </a:p>
        </p:txBody>
      </p:sp>
      <p:sp>
        <p:nvSpPr>
          <p:cNvPr id="6" name="Content Placeholder 5">
            <a:extLst>
              <a:ext uri="{FF2B5EF4-FFF2-40B4-BE49-F238E27FC236}">
                <a16:creationId xmlns:a16="http://schemas.microsoft.com/office/drawing/2014/main" id="{D243CD85-C039-4D99-1BA7-C84F087031C6}"/>
              </a:ext>
            </a:extLst>
          </p:cNvPr>
          <p:cNvSpPr>
            <a:spLocks noGrp="1"/>
          </p:cNvSpPr>
          <p:nvPr>
            <p:ph sz="quarter" idx="4"/>
          </p:nvPr>
        </p:nvSpPr>
        <p:spPr/>
        <p:txBody>
          <a:bodyPr>
            <a:normAutofit fontScale="92500" lnSpcReduction="10000"/>
          </a:bodyPr>
          <a:lstStyle/>
          <a:p>
            <a:r>
              <a:rPr lang="en-US" dirty="0" err="1"/>
              <a:t>Imutabilitate</a:t>
            </a:r>
            <a:r>
              <a:rPr lang="en-US" dirty="0"/>
              <a:t>: Nu </a:t>
            </a:r>
            <a:r>
              <a:rPr lang="en-US" dirty="0" err="1"/>
              <a:t>modificam</a:t>
            </a:r>
            <a:r>
              <a:rPr lang="en-US" dirty="0"/>
              <a:t> </a:t>
            </a:r>
            <a:r>
              <a:rPr lang="en-US" dirty="0" err="1"/>
              <a:t>lista</a:t>
            </a:r>
            <a:r>
              <a:rPr lang="en-US" dirty="0"/>
              <a:t> </a:t>
            </a:r>
            <a:r>
              <a:rPr lang="en-US" dirty="0" err="1"/>
              <a:t>existenta</a:t>
            </a:r>
            <a:r>
              <a:rPr lang="en-US" dirty="0"/>
              <a:t>, ci </a:t>
            </a:r>
            <a:r>
              <a:rPr lang="en-US" dirty="0" err="1"/>
              <a:t>generam</a:t>
            </a:r>
            <a:r>
              <a:rPr lang="en-US" dirty="0"/>
              <a:t> </a:t>
            </a:r>
            <a:r>
              <a:rPr lang="en-US" dirty="0" err="1"/>
              <a:t>una</a:t>
            </a:r>
            <a:r>
              <a:rPr lang="en-US" dirty="0"/>
              <a:t> </a:t>
            </a:r>
            <a:r>
              <a:rPr lang="en-US" dirty="0" err="1"/>
              <a:t>noua</a:t>
            </a:r>
            <a:endParaRPr lang="en-US" dirty="0"/>
          </a:p>
          <a:p>
            <a:r>
              <a:rPr lang="en-US" dirty="0" err="1"/>
              <a:t>Creare</a:t>
            </a:r>
            <a:r>
              <a:rPr lang="en-US" dirty="0"/>
              <a:t> interval: </a:t>
            </a:r>
            <a:r>
              <a:rPr lang="en-US" dirty="0" err="1"/>
              <a:t>Array.from</a:t>
            </a:r>
            <a:r>
              <a:rPr lang="en-US" dirty="0"/>
              <a:t> + slice(2) -&gt; </a:t>
            </a:r>
            <a:r>
              <a:rPr lang="en-US" dirty="0" err="1"/>
              <a:t>elimina</a:t>
            </a:r>
            <a:r>
              <a:rPr lang="en-US" dirty="0"/>
              <a:t> 0, 1</a:t>
            </a:r>
          </a:p>
          <a:p>
            <a:r>
              <a:rPr lang="en-US" dirty="0" err="1"/>
              <a:t>Functii</a:t>
            </a:r>
            <a:r>
              <a:rPr lang="en-US" dirty="0"/>
              <a:t> de </a:t>
            </a:r>
            <a:r>
              <a:rPr lang="en-US" dirty="0" err="1"/>
              <a:t>ordine</a:t>
            </a:r>
            <a:r>
              <a:rPr lang="en-US" dirty="0"/>
              <a:t> </a:t>
            </a:r>
            <a:r>
              <a:rPr lang="en-US" dirty="0" err="1"/>
              <a:t>superioara</a:t>
            </a:r>
            <a:r>
              <a:rPr lang="en-US" dirty="0"/>
              <a:t>: reduce, some, filter, </a:t>
            </a:r>
            <a:r>
              <a:rPr lang="en-US" dirty="0" err="1"/>
              <a:t>pentru</a:t>
            </a:r>
            <a:r>
              <a:rPr lang="en-US" dirty="0"/>
              <a:t> </a:t>
            </a:r>
            <a:r>
              <a:rPr lang="en-US" dirty="0" err="1"/>
              <a:t>procesare</a:t>
            </a:r>
            <a:r>
              <a:rPr lang="en-US" dirty="0"/>
              <a:t> declarative</a:t>
            </a:r>
          </a:p>
          <a:p>
            <a:r>
              <a:rPr lang="en-US" dirty="0" err="1"/>
              <a:t>Functii</a:t>
            </a:r>
            <a:r>
              <a:rPr lang="en-US" dirty="0"/>
              <a:t> pure: Nu </a:t>
            </a:r>
            <a:r>
              <a:rPr lang="en-US" dirty="0" err="1"/>
              <a:t>altereaza</a:t>
            </a:r>
            <a:r>
              <a:rPr lang="en-US" dirty="0"/>
              <a:t> </a:t>
            </a:r>
            <a:r>
              <a:rPr lang="en-US" dirty="0" err="1"/>
              <a:t>starea</a:t>
            </a:r>
            <a:r>
              <a:rPr lang="en-US" dirty="0"/>
              <a:t> – </a:t>
            </a:r>
            <a:r>
              <a:rPr lang="en-US" dirty="0" err="1"/>
              <a:t>fara</a:t>
            </a:r>
            <a:r>
              <a:rPr lang="en-US" dirty="0"/>
              <a:t> </a:t>
            </a:r>
            <a:r>
              <a:rPr lang="en-US" dirty="0" err="1"/>
              <a:t>efecte</a:t>
            </a:r>
            <a:r>
              <a:rPr lang="en-US" dirty="0"/>
              <a:t> </a:t>
            </a:r>
            <a:r>
              <a:rPr lang="en-US" dirty="0" err="1"/>
              <a:t>secundare</a:t>
            </a:r>
            <a:endParaRPr lang="en-US" dirty="0"/>
          </a:p>
          <a:p>
            <a:r>
              <a:rPr lang="en-US" dirty="0"/>
              <a:t>Fara </a:t>
            </a:r>
            <a:r>
              <a:rPr lang="en-US" dirty="0" err="1"/>
              <a:t>modificari</a:t>
            </a:r>
            <a:r>
              <a:rPr lang="en-US" dirty="0"/>
              <a:t> </a:t>
            </a:r>
            <a:r>
              <a:rPr lang="en-US" dirty="0" err="1"/>
              <a:t>directe</a:t>
            </a:r>
            <a:r>
              <a:rPr lang="en-US" dirty="0"/>
              <a:t>: </a:t>
            </a:r>
            <a:r>
              <a:rPr lang="en-US" dirty="0" err="1"/>
              <a:t>fiecare</a:t>
            </a:r>
            <a:r>
              <a:rPr lang="en-US" dirty="0"/>
              <a:t> pas </a:t>
            </a:r>
            <a:r>
              <a:rPr lang="en-US" dirty="0" err="1"/>
              <a:t>creeaza</a:t>
            </a:r>
            <a:r>
              <a:rPr lang="en-US" dirty="0"/>
              <a:t> o </a:t>
            </a:r>
            <a:r>
              <a:rPr lang="en-US" dirty="0" err="1"/>
              <a:t>noua</a:t>
            </a:r>
            <a:r>
              <a:rPr lang="en-US" dirty="0"/>
              <a:t> </a:t>
            </a:r>
            <a:r>
              <a:rPr lang="en-US" dirty="0" err="1"/>
              <a:t>colectie</a:t>
            </a:r>
            <a:endParaRPr lang="en-GB" dirty="0"/>
          </a:p>
        </p:txBody>
      </p:sp>
    </p:spTree>
    <p:extLst>
      <p:ext uri="{BB962C8B-B14F-4D97-AF65-F5344CB8AC3E}">
        <p14:creationId xmlns:p14="http://schemas.microsoft.com/office/powerpoint/2010/main" val="2060334395"/>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09947-9D72-0073-0F78-E07C47408484}"/>
              </a:ext>
            </a:extLst>
          </p:cNvPr>
          <p:cNvSpPr>
            <a:spLocks noGrp="1"/>
          </p:cNvSpPr>
          <p:nvPr>
            <p:ph type="ctrTitle"/>
          </p:nvPr>
        </p:nvSpPr>
        <p:spPr/>
        <p:txBody>
          <a:bodyPr/>
          <a:lstStyle/>
          <a:p>
            <a:r>
              <a:rPr lang="en-US" dirty="0"/>
              <a:t>Analiza </a:t>
            </a:r>
            <a:r>
              <a:rPr lang="en-US" dirty="0" err="1"/>
              <a:t>solutiilor</a:t>
            </a:r>
            <a:r>
              <a:rPr lang="en-US" dirty="0"/>
              <a:t> din </a:t>
            </a:r>
            <a:r>
              <a:rPr lang="en-US" dirty="0" err="1"/>
              <a:t>punct</a:t>
            </a:r>
            <a:r>
              <a:rPr lang="en-US" dirty="0"/>
              <a:t> de </a:t>
            </a:r>
            <a:r>
              <a:rPr lang="en-US" dirty="0" err="1"/>
              <a:t>vedere</a:t>
            </a:r>
            <a:r>
              <a:rPr lang="en-US" dirty="0"/>
              <a:t> software quality</a:t>
            </a:r>
            <a:endParaRPr lang="en-GB" dirty="0"/>
          </a:p>
        </p:txBody>
      </p:sp>
    </p:spTree>
    <p:extLst>
      <p:ext uri="{BB962C8B-B14F-4D97-AF65-F5344CB8AC3E}">
        <p14:creationId xmlns:p14="http://schemas.microsoft.com/office/powerpoint/2010/main" val="19323864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EE19A79-42F7-94E7-6CBA-9C2B118D46ED}"/>
              </a:ext>
            </a:extLst>
          </p:cNvPr>
          <p:cNvGraphicFramePr>
            <a:graphicFrameLocks noGrp="1"/>
          </p:cNvGraphicFramePr>
          <p:nvPr>
            <p:extLst>
              <p:ext uri="{D42A27DB-BD31-4B8C-83A1-F6EECF244321}">
                <p14:modId xmlns:p14="http://schemas.microsoft.com/office/powerpoint/2010/main" val="1960666189"/>
              </p:ext>
            </p:extLst>
          </p:nvPr>
        </p:nvGraphicFramePr>
        <p:xfrm>
          <a:off x="769143" y="1828800"/>
          <a:ext cx="10653714" cy="3200400"/>
        </p:xfrm>
        <a:graphic>
          <a:graphicData uri="http://schemas.openxmlformats.org/drawingml/2006/table">
            <a:tbl>
              <a:tblPr/>
              <a:tblGrid>
                <a:gridCol w="3551238">
                  <a:extLst>
                    <a:ext uri="{9D8B030D-6E8A-4147-A177-3AD203B41FA5}">
                      <a16:colId xmlns:a16="http://schemas.microsoft.com/office/drawing/2014/main" val="2571438585"/>
                    </a:ext>
                  </a:extLst>
                </a:gridCol>
                <a:gridCol w="3551238">
                  <a:extLst>
                    <a:ext uri="{9D8B030D-6E8A-4147-A177-3AD203B41FA5}">
                      <a16:colId xmlns:a16="http://schemas.microsoft.com/office/drawing/2014/main" val="2338841834"/>
                    </a:ext>
                  </a:extLst>
                </a:gridCol>
                <a:gridCol w="3551238">
                  <a:extLst>
                    <a:ext uri="{9D8B030D-6E8A-4147-A177-3AD203B41FA5}">
                      <a16:colId xmlns:a16="http://schemas.microsoft.com/office/drawing/2014/main" val="1082003923"/>
                    </a:ext>
                  </a:extLst>
                </a:gridCol>
              </a:tblGrid>
              <a:tr h="365760">
                <a:tc>
                  <a:txBody>
                    <a:bodyPr/>
                    <a:lstStyle/>
                    <a:p>
                      <a:r>
                        <a:rPr lang="en-GB" sz="1800" b="1"/>
                        <a:t>Criteriu</a:t>
                      </a:r>
                      <a:endParaRPr lang="en-GB" sz="1800"/>
                    </a:p>
                  </a:txBody>
                  <a:tcPr anchor="ctr">
                    <a:lnL>
                      <a:noFill/>
                    </a:lnL>
                    <a:lnR>
                      <a:noFill/>
                    </a:lnR>
                    <a:lnT>
                      <a:noFill/>
                    </a:lnT>
                    <a:lnB>
                      <a:noFill/>
                    </a:lnB>
                    <a:noFill/>
                  </a:tcPr>
                </a:tc>
                <a:tc>
                  <a:txBody>
                    <a:bodyPr/>
                    <a:lstStyle/>
                    <a:p>
                      <a:r>
                        <a:rPr lang="en-GB" sz="1800" b="1"/>
                        <a:t>Imperativă</a:t>
                      </a:r>
                      <a:endParaRPr lang="en-GB" sz="1800"/>
                    </a:p>
                  </a:txBody>
                  <a:tcPr anchor="ctr">
                    <a:lnL>
                      <a:noFill/>
                    </a:lnL>
                    <a:lnR>
                      <a:noFill/>
                    </a:lnR>
                    <a:lnT>
                      <a:noFill/>
                    </a:lnT>
                    <a:lnB>
                      <a:noFill/>
                    </a:lnB>
                    <a:noFill/>
                  </a:tcPr>
                </a:tc>
                <a:tc>
                  <a:txBody>
                    <a:bodyPr/>
                    <a:lstStyle/>
                    <a:p>
                      <a:r>
                        <a:rPr lang="en-GB" sz="1800" b="1"/>
                        <a:t>Funcțională</a:t>
                      </a:r>
                      <a:endParaRPr lang="en-GB" sz="1800"/>
                    </a:p>
                  </a:txBody>
                  <a:tcPr anchor="ctr">
                    <a:lnL>
                      <a:noFill/>
                    </a:lnL>
                    <a:lnR>
                      <a:noFill/>
                    </a:lnR>
                    <a:lnT>
                      <a:noFill/>
                    </a:lnT>
                    <a:lnB>
                      <a:noFill/>
                    </a:lnB>
                    <a:noFill/>
                  </a:tcPr>
                </a:tc>
                <a:extLst>
                  <a:ext uri="{0D108BD9-81ED-4DB2-BD59-A6C34878D82A}">
                    <a16:rowId xmlns:a16="http://schemas.microsoft.com/office/drawing/2014/main" val="3950459705"/>
                  </a:ext>
                </a:extLst>
              </a:tr>
              <a:tr h="640080">
                <a:tc>
                  <a:txBody>
                    <a:bodyPr/>
                    <a:lstStyle/>
                    <a:p>
                      <a:r>
                        <a:rPr lang="en-GB" sz="1800" b="1"/>
                        <a:t>Corectitudine</a:t>
                      </a:r>
                      <a:endParaRPr lang="en-GB" sz="1800"/>
                    </a:p>
                  </a:txBody>
                  <a:tcPr anchor="ctr">
                    <a:lnL>
                      <a:noFill/>
                    </a:lnL>
                    <a:lnR>
                      <a:noFill/>
                    </a:lnR>
                    <a:lnT>
                      <a:noFill/>
                    </a:lnT>
                    <a:lnB>
                      <a:noFill/>
                    </a:lnB>
                    <a:noFill/>
                  </a:tcPr>
                </a:tc>
                <a:tc>
                  <a:txBody>
                    <a:bodyPr/>
                    <a:lstStyle/>
                    <a:p>
                      <a:r>
                        <a:rPr lang="en-GB" sz="1800"/>
                        <a:t>Corectă – algoritm clasic (Ciurul lui Eratostene).</a:t>
                      </a:r>
                    </a:p>
                  </a:txBody>
                  <a:tcPr anchor="ctr">
                    <a:lnL>
                      <a:noFill/>
                    </a:lnL>
                    <a:lnR>
                      <a:noFill/>
                    </a:lnR>
                    <a:lnT>
                      <a:noFill/>
                    </a:lnT>
                    <a:lnB>
                      <a:noFill/>
                    </a:lnB>
                    <a:noFill/>
                  </a:tcPr>
                </a:tc>
                <a:tc>
                  <a:txBody>
                    <a:bodyPr/>
                    <a:lstStyle/>
                    <a:p>
                      <a:r>
                        <a:rPr lang="en-GB" sz="1800"/>
                        <a:t>Corectă – aceeași logică, exprimată declarativ.</a:t>
                      </a:r>
                    </a:p>
                  </a:txBody>
                  <a:tcPr anchor="ctr">
                    <a:lnL>
                      <a:noFill/>
                    </a:lnL>
                    <a:lnR>
                      <a:noFill/>
                    </a:lnR>
                    <a:lnT>
                      <a:noFill/>
                    </a:lnT>
                    <a:lnB>
                      <a:noFill/>
                    </a:lnB>
                    <a:noFill/>
                  </a:tcPr>
                </a:tc>
                <a:extLst>
                  <a:ext uri="{0D108BD9-81ED-4DB2-BD59-A6C34878D82A}">
                    <a16:rowId xmlns:a16="http://schemas.microsoft.com/office/drawing/2014/main" val="2503522681"/>
                  </a:ext>
                </a:extLst>
              </a:tr>
              <a:tr h="914400">
                <a:tc>
                  <a:txBody>
                    <a:bodyPr/>
                    <a:lstStyle/>
                    <a:p>
                      <a:r>
                        <a:rPr lang="en-GB" sz="1800" b="1"/>
                        <a:t>Performanță</a:t>
                      </a:r>
                      <a:endParaRPr lang="en-GB" sz="1800"/>
                    </a:p>
                  </a:txBody>
                  <a:tcPr anchor="ctr">
                    <a:lnL>
                      <a:noFill/>
                    </a:lnL>
                    <a:lnR>
                      <a:noFill/>
                    </a:lnR>
                    <a:lnT>
                      <a:noFill/>
                    </a:lnT>
                    <a:lnB>
                      <a:noFill/>
                    </a:lnB>
                    <a:noFill/>
                  </a:tcPr>
                </a:tc>
                <a:tc>
                  <a:txBody>
                    <a:bodyPr/>
                    <a:lstStyle/>
                    <a:p>
                      <a:r>
                        <a:rPr lang="pt-BR" sz="1800"/>
                        <a:t>Eficientă: O(n log log n), memorie O(n).</a:t>
                      </a:r>
                    </a:p>
                  </a:txBody>
                  <a:tcPr anchor="ctr">
                    <a:lnL>
                      <a:noFill/>
                    </a:lnL>
                    <a:lnR>
                      <a:noFill/>
                    </a:lnR>
                    <a:lnT>
                      <a:noFill/>
                    </a:lnT>
                    <a:lnB>
                      <a:noFill/>
                    </a:lnB>
                    <a:noFill/>
                  </a:tcPr>
                </a:tc>
                <a:tc>
                  <a:txBody>
                    <a:bodyPr/>
                    <a:lstStyle/>
                    <a:p>
                      <a:r>
                        <a:rPr lang="en-GB" sz="1800"/>
                        <a:t>Mai lentă: posibil O(n²), memorie crescută (copii de colecții).</a:t>
                      </a:r>
                    </a:p>
                  </a:txBody>
                  <a:tcPr anchor="ctr">
                    <a:lnL>
                      <a:noFill/>
                    </a:lnL>
                    <a:lnR>
                      <a:noFill/>
                    </a:lnR>
                    <a:lnT>
                      <a:noFill/>
                    </a:lnT>
                    <a:lnB>
                      <a:noFill/>
                    </a:lnB>
                    <a:noFill/>
                  </a:tcPr>
                </a:tc>
                <a:extLst>
                  <a:ext uri="{0D108BD9-81ED-4DB2-BD59-A6C34878D82A}">
                    <a16:rowId xmlns:a16="http://schemas.microsoft.com/office/drawing/2014/main" val="3913685813"/>
                  </a:ext>
                </a:extLst>
              </a:tr>
              <a:tr h="640080">
                <a:tc>
                  <a:txBody>
                    <a:bodyPr/>
                    <a:lstStyle/>
                    <a:p>
                      <a:r>
                        <a:rPr lang="en-GB" sz="1800" b="1"/>
                        <a:t>Mentenabilitate</a:t>
                      </a:r>
                      <a:endParaRPr lang="en-GB" sz="1800"/>
                    </a:p>
                  </a:txBody>
                  <a:tcPr anchor="ctr">
                    <a:lnL>
                      <a:noFill/>
                    </a:lnL>
                    <a:lnR>
                      <a:noFill/>
                    </a:lnR>
                    <a:lnT>
                      <a:noFill/>
                    </a:lnT>
                    <a:lnB>
                      <a:noFill/>
                    </a:lnB>
                    <a:noFill/>
                  </a:tcPr>
                </a:tc>
                <a:tc>
                  <a:txBody>
                    <a:bodyPr/>
                    <a:lstStyle/>
                    <a:p>
                      <a:r>
                        <a:rPr lang="en-GB" sz="1800"/>
                        <a:t>Ușor de urmărit, dar dificil de modificat în cod mare.</a:t>
                      </a:r>
                    </a:p>
                  </a:txBody>
                  <a:tcPr anchor="ctr">
                    <a:lnL>
                      <a:noFill/>
                    </a:lnL>
                    <a:lnR>
                      <a:noFill/>
                    </a:lnR>
                    <a:lnT>
                      <a:noFill/>
                    </a:lnT>
                    <a:lnB>
                      <a:noFill/>
                    </a:lnB>
                    <a:noFill/>
                  </a:tcPr>
                </a:tc>
                <a:tc>
                  <a:txBody>
                    <a:bodyPr/>
                    <a:lstStyle/>
                    <a:p>
                      <a:r>
                        <a:rPr lang="en-GB" sz="1800"/>
                        <a:t>Modular și concis, dar mai greu de înțeles pentru începători.</a:t>
                      </a:r>
                    </a:p>
                  </a:txBody>
                  <a:tcPr anchor="ctr">
                    <a:lnL>
                      <a:noFill/>
                    </a:lnL>
                    <a:lnR>
                      <a:noFill/>
                    </a:lnR>
                    <a:lnT>
                      <a:noFill/>
                    </a:lnT>
                    <a:lnB>
                      <a:noFill/>
                    </a:lnB>
                    <a:noFill/>
                  </a:tcPr>
                </a:tc>
                <a:extLst>
                  <a:ext uri="{0D108BD9-81ED-4DB2-BD59-A6C34878D82A}">
                    <a16:rowId xmlns:a16="http://schemas.microsoft.com/office/drawing/2014/main" val="683196791"/>
                  </a:ext>
                </a:extLst>
              </a:tr>
              <a:tr h="640080">
                <a:tc>
                  <a:txBody>
                    <a:bodyPr/>
                    <a:lstStyle/>
                    <a:p>
                      <a:r>
                        <a:rPr lang="en-GB" sz="1800" b="1"/>
                        <a:t>Extensibilitate</a:t>
                      </a:r>
                      <a:endParaRPr lang="en-GB" sz="1800"/>
                    </a:p>
                  </a:txBody>
                  <a:tcPr anchor="ctr">
                    <a:lnL>
                      <a:noFill/>
                    </a:lnL>
                    <a:lnR>
                      <a:noFill/>
                    </a:lnR>
                    <a:lnT>
                      <a:noFill/>
                    </a:lnT>
                    <a:lnB>
                      <a:noFill/>
                    </a:lnB>
                    <a:noFill/>
                  </a:tcPr>
                </a:tc>
                <a:tc>
                  <a:txBody>
                    <a:bodyPr/>
                    <a:lstStyle/>
                    <a:p>
                      <a:r>
                        <a:rPr lang="it-IT" sz="1800"/>
                        <a:t>Necesită modificări în mai multe locuri.</a:t>
                      </a:r>
                    </a:p>
                  </a:txBody>
                  <a:tcPr anchor="ctr">
                    <a:lnL>
                      <a:noFill/>
                    </a:lnL>
                    <a:lnR>
                      <a:noFill/>
                    </a:lnR>
                    <a:lnT>
                      <a:noFill/>
                    </a:lnT>
                    <a:lnB>
                      <a:noFill/>
                    </a:lnB>
                    <a:noFill/>
                  </a:tcPr>
                </a:tc>
                <a:tc>
                  <a:txBody>
                    <a:bodyPr/>
                    <a:lstStyle/>
                    <a:p>
                      <a:r>
                        <a:rPr lang="en-GB" sz="1800" dirty="0"/>
                        <a:t>Mai </a:t>
                      </a:r>
                      <a:r>
                        <a:rPr lang="en-GB" sz="1800" dirty="0" err="1"/>
                        <a:t>ușor</a:t>
                      </a:r>
                      <a:r>
                        <a:rPr lang="en-GB" sz="1800" dirty="0"/>
                        <a:t> </a:t>
                      </a:r>
                      <a:r>
                        <a:rPr lang="en-GB" sz="1800" dirty="0" err="1"/>
                        <a:t>extensibilă</a:t>
                      </a:r>
                      <a:r>
                        <a:rPr lang="en-GB" sz="1800" dirty="0"/>
                        <a:t> </a:t>
                      </a:r>
                      <a:r>
                        <a:rPr lang="en-GB" sz="1800" dirty="0" err="1"/>
                        <a:t>datorită</a:t>
                      </a:r>
                      <a:r>
                        <a:rPr lang="en-GB" sz="1800" dirty="0"/>
                        <a:t> </a:t>
                      </a:r>
                      <a:r>
                        <a:rPr lang="en-GB" sz="1800" dirty="0" err="1"/>
                        <a:t>modularității</a:t>
                      </a:r>
                      <a:r>
                        <a:rPr lang="en-GB" sz="1800" dirty="0"/>
                        <a:t>.</a:t>
                      </a:r>
                    </a:p>
                  </a:txBody>
                  <a:tcPr anchor="ctr">
                    <a:lnL>
                      <a:noFill/>
                    </a:lnL>
                    <a:lnR>
                      <a:noFill/>
                    </a:lnR>
                    <a:lnT>
                      <a:noFill/>
                    </a:lnT>
                    <a:lnB>
                      <a:noFill/>
                    </a:lnB>
                    <a:noFill/>
                  </a:tcPr>
                </a:tc>
                <a:extLst>
                  <a:ext uri="{0D108BD9-81ED-4DB2-BD59-A6C34878D82A}">
                    <a16:rowId xmlns:a16="http://schemas.microsoft.com/office/drawing/2014/main" val="3700070388"/>
                  </a:ext>
                </a:extLst>
              </a:tr>
            </a:tbl>
          </a:graphicData>
        </a:graphic>
      </p:graphicFrame>
    </p:spTree>
    <p:extLst>
      <p:ext uri="{BB962C8B-B14F-4D97-AF65-F5344CB8AC3E}">
        <p14:creationId xmlns:p14="http://schemas.microsoft.com/office/powerpoint/2010/main" val="6296367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692ED4B-F38E-9CB8-126C-54DC48B330DD}"/>
              </a:ext>
            </a:extLst>
          </p:cNvPr>
          <p:cNvGraphicFramePr>
            <a:graphicFrameLocks noGrp="1"/>
          </p:cNvGraphicFramePr>
          <p:nvPr>
            <p:extLst>
              <p:ext uri="{D42A27DB-BD31-4B8C-83A1-F6EECF244321}">
                <p14:modId xmlns:p14="http://schemas.microsoft.com/office/powerpoint/2010/main" val="2865996779"/>
              </p:ext>
            </p:extLst>
          </p:nvPr>
        </p:nvGraphicFramePr>
        <p:xfrm>
          <a:off x="769143" y="1965960"/>
          <a:ext cx="10653714" cy="2926080"/>
        </p:xfrm>
        <a:graphic>
          <a:graphicData uri="http://schemas.openxmlformats.org/drawingml/2006/table">
            <a:tbl>
              <a:tblPr/>
              <a:tblGrid>
                <a:gridCol w="3551238">
                  <a:extLst>
                    <a:ext uri="{9D8B030D-6E8A-4147-A177-3AD203B41FA5}">
                      <a16:colId xmlns:a16="http://schemas.microsoft.com/office/drawing/2014/main" val="1689637860"/>
                    </a:ext>
                  </a:extLst>
                </a:gridCol>
                <a:gridCol w="3551238">
                  <a:extLst>
                    <a:ext uri="{9D8B030D-6E8A-4147-A177-3AD203B41FA5}">
                      <a16:colId xmlns:a16="http://schemas.microsoft.com/office/drawing/2014/main" val="1262262108"/>
                    </a:ext>
                  </a:extLst>
                </a:gridCol>
                <a:gridCol w="3551238">
                  <a:extLst>
                    <a:ext uri="{9D8B030D-6E8A-4147-A177-3AD203B41FA5}">
                      <a16:colId xmlns:a16="http://schemas.microsoft.com/office/drawing/2014/main" val="398341144"/>
                    </a:ext>
                  </a:extLst>
                </a:gridCol>
              </a:tblGrid>
              <a:tr h="365760">
                <a:tc>
                  <a:txBody>
                    <a:bodyPr/>
                    <a:lstStyle/>
                    <a:p>
                      <a:r>
                        <a:rPr lang="en-GB" sz="1800" b="1"/>
                        <a:t>Criteriu</a:t>
                      </a:r>
                      <a:endParaRPr lang="en-GB" sz="1800"/>
                    </a:p>
                  </a:txBody>
                  <a:tcPr anchor="ctr">
                    <a:lnL>
                      <a:noFill/>
                    </a:lnL>
                    <a:lnR>
                      <a:noFill/>
                    </a:lnR>
                    <a:lnT>
                      <a:noFill/>
                    </a:lnT>
                    <a:lnB>
                      <a:noFill/>
                    </a:lnB>
                    <a:noFill/>
                  </a:tcPr>
                </a:tc>
                <a:tc>
                  <a:txBody>
                    <a:bodyPr/>
                    <a:lstStyle/>
                    <a:p>
                      <a:r>
                        <a:rPr lang="en-GB" sz="1800" b="1"/>
                        <a:t>Imperativă</a:t>
                      </a:r>
                      <a:endParaRPr lang="en-GB" sz="1800"/>
                    </a:p>
                  </a:txBody>
                  <a:tcPr anchor="ctr">
                    <a:lnL>
                      <a:noFill/>
                    </a:lnL>
                    <a:lnR>
                      <a:noFill/>
                    </a:lnR>
                    <a:lnT>
                      <a:noFill/>
                    </a:lnT>
                    <a:lnB>
                      <a:noFill/>
                    </a:lnB>
                    <a:noFill/>
                  </a:tcPr>
                </a:tc>
                <a:tc>
                  <a:txBody>
                    <a:bodyPr/>
                    <a:lstStyle/>
                    <a:p>
                      <a:r>
                        <a:rPr lang="en-GB" sz="1800" b="1"/>
                        <a:t>Funcțională</a:t>
                      </a:r>
                      <a:endParaRPr lang="en-GB" sz="1800"/>
                    </a:p>
                  </a:txBody>
                  <a:tcPr anchor="ctr">
                    <a:lnL>
                      <a:noFill/>
                    </a:lnL>
                    <a:lnR>
                      <a:noFill/>
                    </a:lnR>
                    <a:lnT>
                      <a:noFill/>
                    </a:lnT>
                    <a:lnB>
                      <a:noFill/>
                    </a:lnB>
                    <a:noFill/>
                  </a:tcPr>
                </a:tc>
                <a:extLst>
                  <a:ext uri="{0D108BD9-81ED-4DB2-BD59-A6C34878D82A}">
                    <a16:rowId xmlns:a16="http://schemas.microsoft.com/office/drawing/2014/main" val="3112855004"/>
                  </a:ext>
                </a:extLst>
              </a:tr>
              <a:tr h="640080">
                <a:tc>
                  <a:txBody>
                    <a:bodyPr/>
                    <a:lstStyle/>
                    <a:p>
                      <a:r>
                        <a:rPr lang="en-GB" sz="1800" b="1"/>
                        <a:t>Testabilitate</a:t>
                      </a:r>
                      <a:endParaRPr lang="en-GB" sz="1800"/>
                    </a:p>
                  </a:txBody>
                  <a:tcPr anchor="ctr">
                    <a:lnL>
                      <a:noFill/>
                    </a:lnL>
                    <a:lnR>
                      <a:noFill/>
                    </a:lnR>
                    <a:lnT>
                      <a:noFill/>
                    </a:lnT>
                    <a:lnB>
                      <a:noFill/>
                    </a:lnB>
                    <a:noFill/>
                  </a:tcPr>
                </a:tc>
                <a:tc>
                  <a:txBody>
                    <a:bodyPr/>
                    <a:lstStyle/>
                    <a:p>
                      <a:r>
                        <a:rPr lang="en-GB" sz="1800"/>
                        <a:t>Ușor de testat pas cu pas, dar complexitatea poate crește.</a:t>
                      </a:r>
                    </a:p>
                  </a:txBody>
                  <a:tcPr anchor="ctr">
                    <a:lnL>
                      <a:noFill/>
                    </a:lnL>
                    <a:lnR>
                      <a:noFill/>
                    </a:lnR>
                    <a:lnT>
                      <a:noFill/>
                    </a:lnT>
                    <a:lnB>
                      <a:noFill/>
                    </a:lnB>
                    <a:noFill/>
                  </a:tcPr>
                </a:tc>
                <a:tc>
                  <a:txBody>
                    <a:bodyPr/>
                    <a:lstStyle/>
                    <a:p>
                      <a:r>
                        <a:rPr lang="it-IT" sz="1800"/>
                        <a:t>Funcții pure → teste simple și fiabile.</a:t>
                      </a:r>
                    </a:p>
                  </a:txBody>
                  <a:tcPr anchor="ctr">
                    <a:lnL>
                      <a:noFill/>
                    </a:lnL>
                    <a:lnR>
                      <a:noFill/>
                    </a:lnR>
                    <a:lnT>
                      <a:noFill/>
                    </a:lnT>
                    <a:lnB>
                      <a:noFill/>
                    </a:lnB>
                    <a:noFill/>
                  </a:tcPr>
                </a:tc>
                <a:extLst>
                  <a:ext uri="{0D108BD9-81ED-4DB2-BD59-A6C34878D82A}">
                    <a16:rowId xmlns:a16="http://schemas.microsoft.com/office/drawing/2014/main" val="3818821975"/>
                  </a:ext>
                </a:extLst>
              </a:tr>
              <a:tr h="640080">
                <a:tc>
                  <a:txBody>
                    <a:bodyPr/>
                    <a:lstStyle/>
                    <a:p>
                      <a:r>
                        <a:rPr lang="en-GB" sz="1800" b="1"/>
                        <a:t>Flexibilitate</a:t>
                      </a:r>
                      <a:endParaRPr lang="en-GB" sz="1800"/>
                    </a:p>
                  </a:txBody>
                  <a:tcPr anchor="ctr">
                    <a:lnL>
                      <a:noFill/>
                    </a:lnL>
                    <a:lnR>
                      <a:noFill/>
                    </a:lnR>
                    <a:lnT>
                      <a:noFill/>
                    </a:lnT>
                    <a:lnB>
                      <a:noFill/>
                    </a:lnB>
                    <a:noFill/>
                  </a:tcPr>
                </a:tc>
                <a:tc>
                  <a:txBody>
                    <a:bodyPr/>
                    <a:lstStyle/>
                    <a:p>
                      <a:r>
                        <a:rPr lang="it-IT" sz="1800"/>
                        <a:t>Mai rigidă la schimbări de cerințe.</a:t>
                      </a:r>
                    </a:p>
                  </a:txBody>
                  <a:tcPr anchor="ctr">
                    <a:lnL>
                      <a:noFill/>
                    </a:lnL>
                    <a:lnR>
                      <a:noFill/>
                    </a:lnR>
                    <a:lnT>
                      <a:noFill/>
                    </a:lnT>
                    <a:lnB>
                      <a:noFill/>
                    </a:lnB>
                    <a:noFill/>
                  </a:tcPr>
                </a:tc>
                <a:tc>
                  <a:txBody>
                    <a:bodyPr/>
                    <a:lstStyle/>
                    <a:p>
                      <a:r>
                        <a:rPr lang="it-IT" sz="1800"/>
                        <a:t>Flexibilă – logică modificabilă prin funcții noi.</a:t>
                      </a:r>
                    </a:p>
                  </a:txBody>
                  <a:tcPr anchor="ctr">
                    <a:lnL>
                      <a:noFill/>
                    </a:lnL>
                    <a:lnR>
                      <a:noFill/>
                    </a:lnR>
                    <a:lnT>
                      <a:noFill/>
                    </a:lnT>
                    <a:lnB>
                      <a:noFill/>
                    </a:lnB>
                    <a:noFill/>
                  </a:tcPr>
                </a:tc>
                <a:extLst>
                  <a:ext uri="{0D108BD9-81ED-4DB2-BD59-A6C34878D82A}">
                    <a16:rowId xmlns:a16="http://schemas.microsoft.com/office/drawing/2014/main" val="2492917937"/>
                  </a:ext>
                </a:extLst>
              </a:tr>
              <a:tr h="640080">
                <a:tc>
                  <a:txBody>
                    <a:bodyPr/>
                    <a:lstStyle/>
                    <a:p>
                      <a:r>
                        <a:rPr lang="en-GB" sz="1800" b="1"/>
                        <a:t>Scalabilitate</a:t>
                      </a:r>
                      <a:endParaRPr lang="en-GB" sz="1800"/>
                    </a:p>
                  </a:txBody>
                  <a:tcPr anchor="ctr">
                    <a:lnL>
                      <a:noFill/>
                    </a:lnL>
                    <a:lnR>
                      <a:noFill/>
                    </a:lnR>
                    <a:lnT>
                      <a:noFill/>
                    </a:lnT>
                    <a:lnB>
                      <a:noFill/>
                    </a:lnB>
                    <a:noFill/>
                  </a:tcPr>
                </a:tc>
                <a:tc>
                  <a:txBody>
                    <a:bodyPr/>
                    <a:lstStyle/>
                    <a:p>
                      <a:r>
                        <a:rPr lang="en-GB" sz="1800"/>
                        <a:t>Scalabilă datorită eficienței.</a:t>
                      </a:r>
                    </a:p>
                  </a:txBody>
                  <a:tcPr anchor="ctr">
                    <a:lnL>
                      <a:noFill/>
                    </a:lnL>
                    <a:lnR>
                      <a:noFill/>
                    </a:lnR>
                    <a:lnT>
                      <a:noFill/>
                    </a:lnT>
                    <a:lnB>
                      <a:noFill/>
                    </a:lnB>
                    <a:noFill/>
                  </a:tcPr>
                </a:tc>
                <a:tc>
                  <a:txBody>
                    <a:bodyPr/>
                    <a:lstStyle/>
                    <a:p>
                      <a:r>
                        <a:rPr lang="it-IT" sz="1800"/>
                        <a:t>Mai slabă la scalare – costuri ridicate de performanță.</a:t>
                      </a:r>
                    </a:p>
                  </a:txBody>
                  <a:tcPr anchor="ctr">
                    <a:lnL>
                      <a:noFill/>
                    </a:lnL>
                    <a:lnR>
                      <a:noFill/>
                    </a:lnR>
                    <a:lnT>
                      <a:noFill/>
                    </a:lnT>
                    <a:lnB>
                      <a:noFill/>
                    </a:lnB>
                    <a:noFill/>
                  </a:tcPr>
                </a:tc>
                <a:extLst>
                  <a:ext uri="{0D108BD9-81ED-4DB2-BD59-A6C34878D82A}">
                    <a16:rowId xmlns:a16="http://schemas.microsoft.com/office/drawing/2014/main" val="864858012"/>
                  </a:ext>
                </a:extLst>
              </a:tr>
              <a:tr h="640080">
                <a:tc>
                  <a:txBody>
                    <a:bodyPr/>
                    <a:lstStyle/>
                    <a:p>
                      <a:r>
                        <a:rPr lang="en-GB" sz="1800" b="1"/>
                        <a:t>Usabilitate</a:t>
                      </a:r>
                      <a:endParaRPr lang="en-GB" sz="1800"/>
                    </a:p>
                  </a:txBody>
                  <a:tcPr anchor="ctr">
                    <a:lnL>
                      <a:noFill/>
                    </a:lnL>
                    <a:lnR>
                      <a:noFill/>
                    </a:lnR>
                    <a:lnT>
                      <a:noFill/>
                    </a:lnT>
                    <a:lnB>
                      <a:noFill/>
                    </a:lnB>
                    <a:noFill/>
                  </a:tcPr>
                </a:tc>
                <a:tc>
                  <a:txBody>
                    <a:bodyPr/>
                    <a:lstStyle/>
                    <a:p>
                      <a:r>
                        <a:rPr lang="en-GB" sz="1800"/>
                        <a:t>Intuitivă pentru începători.</a:t>
                      </a:r>
                    </a:p>
                  </a:txBody>
                  <a:tcPr anchor="ctr">
                    <a:lnL>
                      <a:noFill/>
                    </a:lnL>
                    <a:lnR>
                      <a:noFill/>
                    </a:lnR>
                    <a:lnT>
                      <a:noFill/>
                    </a:lnT>
                    <a:lnB>
                      <a:noFill/>
                    </a:lnB>
                    <a:noFill/>
                  </a:tcPr>
                </a:tc>
                <a:tc>
                  <a:txBody>
                    <a:bodyPr/>
                    <a:lstStyle/>
                    <a:p>
                      <a:r>
                        <a:rPr lang="en-GB" sz="1800" dirty="0"/>
                        <a:t>Mai </a:t>
                      </a:r>
                      <a:r>
                        <a:rPr lang="en-GB" sz="1800" dirty="0" err="1"/>
                        <a:t>ușor</a:t>
                      </a:r>
                      <a:r>
                        <a:rPr lang="en-GB" sz="1800" dirty="0"/>
                        <a:t> de </a:t>
                      </a:r>
                      <a:r>
                        <a:rPr lang="en-GB" sz="1800" dirty="0" err="1"/>
                        <a:t>citit</a:t>
                      </a:r>
                      <a:r>
                        <a:rPr lang="en-GB" sz="1800" dirty="0"/>
                        <a:t> </a:t>
                      </a:r>
                      <a:r>
                        <a:rPr lang="en-GB" sz="1800" dirty="0" err="1"/>
                        <a:t>dacă</a:t>
                      </a:r>
                      <a:r>
                        <a:rPr lang="en-GB" sz="1800" dirty="0"/>
                        <a:t> </a:t>
                      </a:r>
                      <a:r>
                        <a:rPr lang="en-GB" sz="1800" dirty="0" err="1"/>
                        <a:t>ești</a:t>
                      </a:r>
                      <a:r>
                        <a:rPr lang="en-GB" sz="1800" dirty="0"/>
                        <a:t> </a:t>
                      </a:r>
                      <a:r>
                        <a:rPr lang="en-GB" sz="1800" dirty="0" err="1"/>
                        <a:t>familiarizat</a:t>
                      </a:r>
                      <a:r>
                        <a:rPr lang="en-GB" sz="1800" dirty="0"/>
                        <a:t> cu </a:t>
                      </a:r>
                      <a:r>
                        <a:rPr lang="en-GB" sz="1800" dirty="0" err="1"/>
                        <a:t>paradigma</a:t>
                      </a:r>
                      <a:r>
                        <a:rPr lang="en-GB" sz="1800" dirty="0"/>
                        <a:t>.</a:t>
                      </a:r>
                    </a:p>
                  </a:txBody>
                  <a:tcPr anchor="ctr">
                    <a:lnL>
                      <a:noFill/>
                    </a:lnL>
                    <a:lnR>
                      <a:noFill/>
                    </a:lnR>
                    <a:lnT>
                      <a:noFill/>
                    </a:lnT>
                    <a:lnB>
                      <a:noFill/>
                    </a:lnB>
                    <a:noFill/>
                  </a:tcPr>
                </a:tc>
                <a:extLst>
                  <a:ext uri="{0D108BD9-81ED-4DB2-BD59-A6C34878D82A}">
                    <a16:rowId xmlns:a16="http://schemas.microsoft.com/office/drawing/2014/main" val="606310262"/>
                  </a:ext>
                </a:extLst>
              </a:tr>
            </a:tbl>
          </a:graphicData>
        </a:graphic>
      </p:graphicFrame>
    </p:spTree>
    <p:extLst>
      <p:ext uri="{BB962C8B-B14F-4D97-AF65-F5344CB8AC3E}">
        <p14:creationId xmlns:p14="http://schemas.microsoft.com/office/powerpoint/2010/main" val="14282148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A97B24A-3C40-1F86-F07B-B7AD1B63750A}"/>
              </a:ext>
            </a:extLst>
          </p:cNvPr>
          <p:cNvGraphicFramePr>
            <a:graphicFrameLocks noGrp="1"/>
          </p:cNvGraphicFramePr>
          <p:nvPr>
            <p:extLst>
              <p:ext uri="{D42A27DB-BD31-4B8C-83A1-F6EECF244321}">
                <p14:modId xmlns:p14="http://schemas.microsoft.com/office/powerpoint/2010/main" val="793896790"/>
              </p:ext>
            </p:extLst>
          </p:nvPr>
        </p:nvGraphicFramePr>
        <p:xfrm>
          <a:off x="1277042" y="2195423"/>
          <a:ext cx="9637916" cy="2467155"/>
        </p:xfrm>
        <a:graphic>
          <a:graphicData uri="http://schemas.openxmlformats.org/drawingml/2006/table">
            <a:tbl>
              <a:tblPr firstRow="1" bandRow="1">
                <a:tableStyleId>{5C22544A-7EE6-4342-B048-85BDC9FD1C3A}</a:tableStyleId>
              </a:tblPr>
              <a:tblGrid>
                <a:gridCol w="2409479">
                  <a:extLst>
                    <a:ext uri="{9D8B030D-6E8A-4147-A177-3AD203B41FA5}">
                      <a16:colId xmlns:a16="http://schemas.microsoft.com/office/drawing/2014/main" val="2253700855"/>
                    </a:ext>
                  </a:extLst>
                </a:gridCol>
                <a:gridCol w="2409479">
                  <a:extLst>
                    <a:ext uri="{9D8B030D-6E8A-4147-A177-3AD203B41FA5}">
                      <a16:colId xmlns:a16="http://schemas.microsoft.com/office/drawing/2014/main" val="219949621"/>
                    </a:ext>
                  </a:extLst>
                </a:gridCol>
                <a:gridCol w="2409479">
                  <a:extLst>
                    <a:ext uri="{9D8B030D-6E8A-4147-A177-3AD203B41FA5}">
                      <a16:colId xmlns:a16="http://schemas.microsoft.com/office/drawing/2014/main" val="1776226786"/>
                    </a:ext>
                  </a:extLst>
                </a:gridCol>
                <a:gridCol w="2409479">
                  <a:extLst>
                    <a:ext uri="{9D8B030D-6E8A-4147-A177-3AD203B41FA5}">
                      <a16:colId xmlns:a16="http://schemas.microsoft.com/office/drawing/2014/main" val="3620059903"/>
                    </a:ext>
                  </a:extLst>
                </a:gridCol>
              </a:tblGrid>
              <a:tr h="822385">
                <a:tc>
                  <a:txBody>
                    <a:bodyPr/>
                    <a:lstStyle/>
                    <a:p>
                      <a:endParaRPr lang="en-GB" dirty="0"/>
                    </a:p>
                  </a:txBody>
                  <a:tcPr/>
                </a:tc>
                <a:tc>
                  <a:txBody>
                    <a:bodyPr/>
                    <a:lstStyle/>
                    <a:p>
                      <a:pPr algn="ctr"/>
                      <a:r>
                        <a:rPr lang="en-US" dirty="0"/>
                        <a:t>N = 1000</a:t>
                      </a:r>
                      <a:endParaRPr lang="en-GB" dirty="0"/>
                    </a:p>
                  </a:txBody>
                  <a:tcPr/>
                </a:tc>
                <a:tc>
                  <a:txBody>
                    <a:bodyPr/>
                    <a:lstStyle/>
                    <a:p>
                      <a:pPr algn="ctr"/>
                      <a:r>
                        <a:rPr lang="en-US" dirty="0"/>
                        <a:t>N = 10000</a:t>
                      </a:r>
                      <a:endParaRPr lang="en-GB" dirty="0"/>
                    </a:p>
                  </a:txBody>
                  <a:tcPr/>
                </a:tc>
                <a:tc>
                  <a:txBody>
                    <a:bodyPr/>
                    <a:lstStyle/>
                    <a:p>
                      <a:pPr algn="ctr"/>
                      <a:r>
                        <a:rPr lang="en-US" dirty="0"/>
                        <a:t>N = 100000</a:t>
                      </a:r>
                      <a:endParaRPr lang="en-GB" dirty="0"/>
                    </a:p>
                  </a:txBody>
                  <a:tcPr/>
                </a:tc>
                <a:extLst>
                  <a:ext uri="{0D108BD9-81ED-4DB2-BD59-A6C34878D82A}">
                    <a16:rowId xmlns:a16="http://schemas.microsoft.com/office/drawing/2014/main" val="2160076273"/>
                  </a:ext>
                </a:extLst>
              </a:tr>
              <a:tr h="822385">
                <a:tc>
                  <a:txBody>
                    <a:bodyPr/>
                    <a:lstStyle/>
                    <a:p>
                      <a:r>
                        <a:rPr lang="en-US" dirty="0" err="1"/>
                        <a:t>Paradigma</a:t>
                      </a:r>
                      <a:r>
                        <a:rPr lang="en-US" dirty="0"/>
                        <a:t> </a:t>
                      </a:r>
                      <a:r>
                        <a:rPr lang="en-US" dirty="0" err="1"/>
                        <a:t>imperativa</a:t>
                      </a:r>
                      <a:endParaRPr lang="en-GB" dirty="0"/>
                    </a:p>
                  </a:txBody>
                  <a:tcPr/>
                </a:tc>
                <a:tc>
                  <a:txBody>
                    <a:bodyPr/>
                    <a:lstStyle/>
                    <a:p>
                      <a:pPr algn="ctr"/>
                      <a:r>
                        <a:rPr lang="en-US" dirty="0"/>
                        <a:t>0.062 </a:t>
                      </a:r>
                      <a:r>
                        <a:rPr lang="en-US" dirty="0" err="1"/>
                        <a:t>ms</a:t>
                      </a:r>
                      <a:endParaRPr lang="en-GB" dirty="0"/>
                    </a:p>
                  </a:txBody>
                  <a:tcPr/>
                </a:tc>
                <a:tc>
                  <a:txBody>
                    <a:bodyPr/>
                    <a:lstStyle/>
                    <a:p>
                      <a:pPr algn="ctr"/>
                      <a:r>
                        <a:rPr lang="en-US" dirty="0"/>
                        <a:t>0.506 </a:t>
                      </a:r>
                      <a:r>
                        <a:rPr lang="en-US" dirty="0" err="1"/>
                        <a:t>ms</a:t>
                      </a:r>
                      <a:endParaRPr lang="en-GB" dirty="0"/>
                    </a:p>
                  </a:txBody>
                  <a:tcPr/>
                </a:tc>
                <a:tc>
                  <a:txBody>
                    <a:bodyPr/>
                    <a:lstStyle/>
                    <a:p>
                      <a:pPr algn="ctr"/>
                      <a:r>
                        <a:rPr lang="en-US" dirty="0"/>
                        <a:t>3.851 </a:t>
                      </a:r>
                      <a:r>
                        <a:rPr lang="en-US" dirty="0" err="1"/>
                        <a:t>ms</a:t>
                      </a:r>
                      <a:endParaRPr lang="en-GB" dirty="0"/>
                    </a:p>
                  </a:txBody>
                  <a:tcPr/>
                </a:tc>
                <a:extLst>
                  <a:ext uri="{0D108BD9-81ED-4DB2-BD59-A6C34878D82A}">
                    <a16:rowId xmlns:a16="http://schemas.microsoft.com/office/drawing/2014/main" val="3420727452"/>
                  </a:ext>
                </a:extLst>
              </a:tr>
              <a:tr h="822385">
                <a:tc>
                  <a:txBody>
                    <a:bodyPr/>
                    <a:lstStyle/>
                    <a:p>
                      <a:r>
                        <a:rPr lang="en-US" dirty="0" err="1"/>
                        <a:t>Paradigma</a:t>
                      </a:r>
                      <a:r>
                        <a:rPr lang="en-US" dirty="0"/>
                        <a:t> </a:t>
                      </a:r>
                      <a:r>
                        <a:rPr lang="en-US" dirty="0" err="1"/>
                        <a:t>functionala</a:t>
                      </a:r>
                      <a:endParaRPr lang="en-GB" dirty="0"/>
                    </a:p>
                  </a:txBody>
                  <a:tcPr/>
                </a:tc>
                <a:tc>
                  <a:txBody>
                    <a:bodyPr/>
                    <a:lstStyle/>
                    <a:p>
                      <a:pPr algn="ctr"/>
                      <a:r>
                        <a:rPr lang="en-US" dirty="0"/>
                        <a:t>2.451 </a:t>
                      </a:r>
                      <a:r>
                        <a:rPr lang="en-US" dirty="0" err="1"/>
                        <a:t>ms</a:t>
                      </a:r>
                      <a:endParaRPr lang="en-GB" dirty="0"/>
                    </a:p>
                  </a:txBody>
                  <a:tcPr/>
                </a:tc>
                <a:tc>
                  <a:txBody>
                    <a:bodyPr/>
                    <a:lstStyle/>
                    <a:p>
                      <a:pPr algn="ctr"/>
                      <a:r>
                        <a:rPr lang="en-US" dirty="0"/>
                        <a:t>52.786 </a:t>
                      </a:r>
                      <a:r>
                        <a:rPr lang="en-US" dirty="0" err="1"/>
                        <a:t>ms</a:t>
                      </a:r>
                      <a:endParaRPr lang="en-GB" dirty="0"/>
                    </a:p>
                  </a:txBody>
                  <a:tcPr/>
                </a:tc>
                <a:tc>
                  <a:txBody>
                    <a:bodyPr/>
                    <a:lstStyle/>
                    <a:p>
                      <a:pPr algn="ctr"/>
                      <a:r>
                        <a:rPr lang="en-US" dirty="0"/>
                        <a:t>965.593 </a:t>
                      </a:r>
                      <a:r>
                        <a:rPr lang="en-US" dirty="0" err="1"/>
                        <a:t>ms</a:t>
                      </a:r>
                      <a:endParaRPr lang="en-GB" dirty="0"/>
                    </a:p>
                  </a:txBody>
                  <a:tcPr/>
                </a:tc>
                <a:extLst>
                  <a:ext uri="{0D108BD9-81ED-4DB2-BD59-A6C34878D82A}">
                    <a16:rowId xmlns:a16="http://schemas.microsoft.com/office/drawing/2014/main" val="2268549205"/>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CC512441-ADA1-1670-8A80-D3B275A83874}"/>
                  </a:ext>
                </a:extLst>
              </p14:cNvPr>
              <p14:cNvContentPartPr/>
              <p14:nvPr/>
            </p14:nvContentPartPr>
            <p14:xfrm>
              <a:off x="1312343" y="2217825"/>
              <a:ext cx="2390760" cy="770040"/>
            </p14:xfrm>
          </p:contentPart>
        </mc:Choice>
        <mc:Fallback xmlns="">
          <p:pic>
            <p:nvPicPr>
              <p:cNvPr id="11" name="Ink 10">
                <a:extLst>
                  <a:ext uri="{FF2B5EF4-FFF2-40B4-BE49-F238E27FC236}">
                    <a16:creationId xmlns:a16="http://schemas.microsoft.com/office/drawing/2014/main" id="{CC512441-ADA1-1670-8A80-D3B275A83874}"/>
                  </a:ext>
                </a:extLst>
              </p:cNvPr>
              <p:cNvPicPr/>
              <p:nvPr/>
            </p:nvPicPr>
            <p:blipFill>
              <a:blip r:embed="rId3"/>
              <a:stretch>
                <a:fillRect/>
              </a:stretch>
            </p:blipFill>
            <p:spPr>
              <a:xfrm>
                <a:off x="1306223" y="2211705"/>
                <a:ext cx="2403000" cy="782280"/>
              </a:xfrm>
              <a:prstGeom prst="rect">
                <a:avLst/>
              </a:prstGeom>
            </p:spPr>
          </p:pic>
        </mc:Fallback>
      </mc:AlternateContent>
      <p:sp>
        <p:nvSpPr>
          <p:cNvPr id="15" name="TextBox 14">
            <a:extLst>
              <a:ext uri="{FF2B5EF4-FFF2-40B4-BE49-F238E27FC236}">
                <a16:creationId xmlns:a16="http://schemas.microsoft.com/office/drawing/2014/main" id="{8B6D0AB8-3819-454D-58A1-47B9BA93C626}"/>
              </a:ext>
            </a:extLst>
          </p:cNvPr>
          <p:cNvSpPr txBox="1"/>
          <p:nvPr/>
        </p:nvSpPr>
        <p:spPr>
          <a:xfrm>
            <a:off x="1312343" y="2602845"/>
            <a:ext cx="926857" cy="369332"/>
          </a:xfrm>
          <a:prstGeom prst="rect">
            <a:avLst/>
          </a:prstGeom>
          <a:noFill/>
        </p:spPr>
        <p:txBody>
          <a:bodyPr wrap="none" rtlCol="0">
            <a:spAutoFit/>
          </a:bodyPr>
          <a:lstStyle/>
          <a:p>
            <a:r>
              <a:rPr lang="en-US" dirty="0" err="1"/>
              <a:t>Solutie</a:t>
            </a:r>
            <a:endParaRPr lang="en-GB" dirty="0"/>
          </a:p>
        </p:txBody>
      </p:sp>
      <p:sp>
        <p:nvSpPr>
          <p:cNvPr id="16" name="TextBox 15">
            <a:extLst>
              <a:ext uri="{FF2B5EF4-FFF2-40B4-BE49-F238E27FC236}">
                <a16:creationId xmlns:a16="http://schemas.microsoft.com/office/drawing/2014/main" id="{250ED55D-13C0-FD38-17FF-D8402B26E3CD}"/>
              </a:ext>
            </a:extLst>
          </p:cNvPr>
          <p:cNvSpPr txBox="1"/>
          <p:nvPr/>
        </p:nvSpPr>
        <p:spPr>
          <a:xfrm>
            <a:off x="2507723" y="2233513"/>
            <a:ext cx="1128835" cy="369332"/>
          </a:xfrm>
          <a:prstGeom prst="rect">
            <a:avLst/>
          </a:prstGeom>
          <a:noFill/>
        </p:spPr>
        <p:txBody>
          <a:bodyPr wrap="none" rtlCol="0">
            <a:spAutoFit/>
          </a:bodyPr>
          <a:lstStyle/>
          <a:p>
            <a:r>
              <a:rPr lang="en-US" dirty="0"/>
              <a:t>Memorie</a:t>
            </a:r>
            <a:endParaRPr lang="en-GB" dirty="0"/>
          </a:p>
        </p:txBody>
      </p:sp>
      <p:sp>
        <p:nvSpPr>
          <p:cNvPr id="17" name="TextBox 16">
            <a:extLst>
              <a:ext uri="{FF2B5EF4-FFF2-40B4-BE49-F238E27FC236}">
                <a16:creationId xmlns:a16="http://schemas.microsoft.com/office/drawing/2014/main" id="{A84AD5FA-9018-D07C-EDDE-D7DC7C4F21EF}"/>
              </a:ext>
            </a:extLst>
          </p:cNvPr>
          <p:cNvSpPr txBox="1"/>
          <p:nvPr/>
        </p:nvSpPr>
        <p:spPr>
          <a:xfrm>
            <a:off x="4393949" y="493414"/>
            <a:ext cx="3404103" cy="707886"/>
          </a:xfrm>
          <a:prstGeom prst="rect">
            <a:avLst/>
          </a:prstGeom>
          <a:noFill/>
        </p:spPr>
        <p:txBody>
          <a:bodyPr wrap="square" rtlCol="0">
            <a:spAutoFit/>
          </a:bodyPr>
          <a:lstStyle/>
          <a:p>
            <a:r>
              <a:rPr lang="en-US" sz="4000" b="1" dirty="0" err="1"/>
              <a:t>Performanta</a:t>
            </a:r>
            <a:endParaRPr lang="en-GB" sz="4000" b="1" dirty="0"/>
          </a:p>
        </p:txBody>
      </p:sp>
    </p:spTree>
    <p:extLst>
      <p:ext uri="{BB962C8B-B14F-4D97-AF65-F5344CB8AC3E}">
        <p14:creationId xmlns:p14="http://schemas.microsoft.com/office/powerpoint/2010/main" val="27214235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F57E-DA3C-AB58-2E0E-CA4B466A84BC}"/>
              </a:ext>
            </a:extLst>
          </p:cNvPr>
          <p:cNvSpPr>
            <a:spLocks noGrp="1"/>
          </p:cNvSpPr>
          <p:nvPr>
            <p:ph type="ctrTitle"/>
          </p:nvPr>
        </p:nvSpPr>
        <p:spPr/>
        <p:txBody>
          <a:bodyPr/>
          <a:lstStyle/>
          <a:p>
            <a:r>
              <a:rPr lang="en-US" dirty="0" err="1"/>
              <a:t>Concluzie</a:t>
            </a:r>
            <a:endParaRPr lang="en-GB" dirty="0"/>
          </a:p>
        </p:txBody>
      </p:sp>
      <p:sp>
        <p:nvSpPr>
          <p:cNvPr id="3" name="Subtitle 2">
            <a:extLst>
              <a:ext uri="{FF2B5EF4-FFF2-40B4-BE49-F238E27FC236}">
                <a16:creationId xmlns:a16="http://schemas.microsoft.com/office/drawing/2014/main" id="{DC54AE7B-6ECC-D51F-7AB0-CDAB8DED2F98}"/>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7303741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E87C1B5-AB8C-1E74-3426-B1D801150166}"/>
              </a:ext>
            </a:extLst>
          </p:cNvPr>
          <p:cNvPicPr>
            <a:picLocks noChangeAspect="1"/>
          </p:cNvPicPr>
          <p:nvPr/>
        </p:nvPicPr>
        <p:blipFill>
          <a:blip r:embed="rId2"/>
          <a:stretch>
            <a:fillRect/>
          </a:stretch>
        </p:blipFill>
        <p:spPr>
          <a:xfrm>
            <a:off x="3400909" y="3225377"/>
            <a:ext cx="5851779" cy="3407800"/>
          </a:xfrm>
          <a:prstGeom prst="rect">
            <a:avLst/>
          </a:prstGeom>
        </p:spPr>
      </p:pic>
      <p:sp>
        <p:nvSpPr>
          <p:cNvPr id="3" name="Content Placeholder 2">
            <a:extLst>
              <a:ext uri="{FF2B5EF4-FFF2-40B4-BE49-F238E27FC236}">
                <a16:creationId xmlns:a16="http://schemas.microsoft.com/office/drawing/2014/main" id="{7E8D32F5-FFA7-1001-28B2-C7B98409657D}"/>
              </a:ext>
            </a:extLst>
          </p:cNvPr>
          <p:cNvSpPr>
            <a:spLocks noGrp="1"/>
          </p:cNvSpPr>
          <p:nvPr>
            <p:ph idx="1"/>
          </p:nvPr>
        </p:nvSpPr>
        <p:spPr>
          <a:xfrm>
            <a:off x="1433149" y="231649"/>
            <a:ext cx="9787301" cy="2993728"/>
          </a:xfrm>
        </p:spPr>
        <p:txBody>
          <a:bodyPr>
            <a:normAutofit/>
          </a:bodyPr>
          <a:lstStyle/>
          <a:p>
            <a:pPr marL="0" indent="0">
              <a:buNone/>
            </a:pPr>
            <a:r>
              <a:rPr lang="en-GB" sz="1800" dirty="0"/>
              <a:t>	</a:t>
            </a:r>
            <a:r>
              <a:rPr lang="en-GB" sz="1800" dirty="0" err="1"/>
              <a:t>Într</a:t>
            </a:r>
            <a:r>
              <a:rPr lang="en-GB" sz="1800" dirty="0"/>
              <a:t>-o </a:t>
            </a:r>
            <a:r>
              <a:rPr lang="en-GB" sz="1800" dirty="0" err="1"/>
              <a:t>lume</a:t>
            </a:r>
            <a:r>
              <a:rPr lang="en-GB" sz="1800" dirty="0"/>
              <a:t> </a:t>
            </a:r>
            <a:r>
              <a:rPr lang="en-GB" sz="1800" dirty="0" err="1"/>
              <a:t>digitală</a:t>
            </a:r>
            <a:r>
              <a:rPr lang="en-GB" sz="1800" dirty="0"/>
              <a:t> </a:t>
            </a:r>
            <a:r>
              <a:rPr lang="en-GB" sz="1800" dirty="0" err="1"/>
              <a:t>în</a:t>
            </a:r>
            <a:r>
              <a:rPr lang="en-GB" sz="1800" dirty="0"/>
              <a:t> </a:t>
            </a:r>
            <a:r>
              <a:rPr lang="en-GB" sz="1800" dirty="0" err="1"/>
              <a:t>continuă</a:t>
            </a:r>
            <a:r>
              <a:rPr lang="en-GB" sz="1800" dirty="0"/>
              <a:t> </a:t>
            </a:r>
            <a:r>
              <a:rPr lang="en-GB" sz="1800" dirty="0" err="1"/>
              <a:t>creștere</a:t>
            </a:r>
            <a:r>
              <a:rPr lang="en-GB" sz="1800" dirty="0"/>
              <a:t>, </a:t>
            </a:r>
            <a:r>
              <a:rPr lang="en-GB" sz="1800" dirty="0" err="1"/>
              <a:t>unde</a:t>
            </a:r>
            <a:r>
              <a:rPr lang="en-GB" sz="1800" dirty="0"/>
              <a:t> </a:t>
            </a:r>
            <a:r>
              <a:rPr lang="en-GB" sz="1800" dirty="0" err="1"/>
              <a:t>aplicațiile</a:t>
            </a:r>
            <a:r>
              <a:rPr lang="en-GB" sz="1800" dirty="0"/>
              <a:t> </a:t>
            </a:r>
            <a:r>
              <a:rPr lang="en-GB" sz="1800" dirty="0" err="1"/>
              <a:t>devin</a:t>
            </a:r>
            <a:r>
              <a:rPr lang="en-GB" sz="1800" dirty="0"/>
              <a:t> din </a:t>
            </a:r>
            <a:r>
              <a:rPr lang="en-GB" sz="1800" dirty="0" err="1"/>
              <a:t>ce</a:t>
            </a:r>
            <a:r>
              <a:rPr lang="en-GB" sz="1800" dirty="0"/>
              <a:t> </a:t>
            </a:r>
            <a:r>
              <a:rPr lang="en-GB" sz="1800" dirty="0" err="1"/>
              <a:t>în</a:t>
            </a:r>
            <a:r>
              <a:rPr lang="en-GB" sz="1800" dirty="0"/>
              <a:t> </a:t>
            </a:r>
            <a:r>
              <a:rPr lang="en-GB" sz="1800" dirty="0" err="1"/>
              <a:t>ce</a:t>
            </a:r>
            <a:r>
              <a:rPr lang="en-GB" sz="1800" dirty="0"/>
              <a:t> </a:t>
            </a:r>
            <a:r>
              <a:rPr lang="en-GB" sz="1800" dirty="0" err="1"/>
              <a:t>mai</a:t>
            </a:r>
            <a:r>
              <a:rPr lang="en-GB" sz="1800" dirty="0"/>
              <a:t> </a:t>
            </a:r>
            <a:r>
              <a:rPr lang="en-GB" sz="1800" dirty="0" err="1"/>
              <a:t>complexe</a:t>
            </a:r>
            <a:r>
              <a:rPr lang="en-GB" sz="1800" dirty="0"/>
              <a:t>, </a:t>
            </a:r>
            <a:r>
              <a:rPr lang="en-GB" sz="1800" dirty="0" err="1"/>
              <a:t>limbaje</a:t>
            </a:r>
            <a:r>
              <a:rPr lang="en-GB" sz="1800" dirty="0"/>
              <a:t> precum TypeScript </a:t>
            </a:r>
            <a:r>
              <a:rPr lang="en-GB" sz="1800" dirty="0" err="1"/>
              <a:t>aduc</a:t>
            </a:r>
            <a:r>
              <a:rPr lang="en-GB" sz="1800" dirty="0"/>
              <a:t> un </a:t>
            </a:r>
            <a:r>
              <a:rPr lang="en-GB" sz="1800" dirty="0" err="1"/>
              <a:t>echilibru</a:t>
            </a:r>
            <a:r>
              <a:rPr lang="en-GB" sz="1800" dirty="0"/>
              <a:t> </a:t>
            </a:r>
            <a:r>
              <a:rPr lang="en-GB" sz="1800" dirty="0" err="1"/>
              <a:t>esențial</a:t>
            </a:r>
            <a:r>
              <a:rPr lang="en-GB" sz="1800" dirty="0"/>
              <a:t> </a:t>
            </a:r>
            <a:r>
              <a:rPr lang="en-GB" sz="1800" dirty="0" err="1"/>
              <a:t>între</a:t>
            </a:r>
            <a:r>
              <a:rPr lang="en-GB" sz="1800" dirty="0"/>
              <a:t> </a:t>
            </a:r>
            <a:r>
              <a:rPr lang="en-GB" sz="1800" dirty="0" err="1"/>
              <a:t>siguranță</a:t>
            </a:r>
            <a:r>
              <a:rPr lang="en-GB" sz="1800" dirty="0"/>
              <a:t>, </a:t>
            </a:r>
            <a:r>
              <a:rPr lang="en-GB" sz="1800" dirty="0" err="1"/>
              <a:t>claritate</a:t>
            </a:r>
            <a:r>
              <a:rPr lang="en-GB" sz="1800" dirty="0"/>
              <a:t> </a:t>
            </a:r>
            <a:r>
              <a:rPr lang="en-GB" sz="1800" dirty="0" err="1"/>
              <a:t>și</a:t>
            </a:r>
            <a:r>
              <a:rPr lang="en-GB" sz="1800" dirty="0"/>
              <a:t> </a:t>
            </a:r>
            <a:r>
              <a:rPr lang="en-GB" sz="1800" dirty="0" err="1"/>
              <a:t>flexibilitate</a:t>
            </a:r>
            <a:r>
              <a:rPr lang="en-GB" sz="1800" dirty="0"/>
              <a:t>.</a:t>
            </a:r>
            <a:br>
              <a:rPr lang="en-GB" sz="1800" dirty="0"/>
            </a:br>
            <a:r>
              <a:rPr lang="en-GB" sz="1800" dirty="0"/>
              <a:t>	Prin </a:t>
            </a:r>
            <a:r>
              <a:rPr lang="en-GB" sz="1800" dirty="0" err="1"/>
              <a:t>combinarea</a:t>
            </a:r>
            <a:r>
              <a:rPr lang="en-GB" sz="1800" dirty="0"/>
              <a:t> </a:t>
            </a:r>
            <a:r>
              <a:rPr lang="en-GB" sz="1800" dirty="0" err="1"/>
              <a:t>paradigmelor</a:t>
            </a:r>
            <a:r>
              <a:rPr lang="en-GB" sz="1800" dirty="0"/>
              <a:t> de </a:t>
            </a:r>
            <a:r>
              <a:rPr lang="en-GB" sz="1800" dirty="0" err="1"/>
              <a:t>programare</a:t>
            </a:r>
            <a:r>
              <a:rPr lang="en-GB" sz="1800" dirty="0"/>
              <a:t> </a:t>
            </a:r>
            <a:r>
              <a:rPr lang="en-GB" sz="1800" dirty="0" err="1"/>
              <a:t>moderne</a:t>
            </a:r>
            <a:r>
              <a:rPr lang="en-GB" sz="1800" dirty="0"/>
              <a:t> cu un </a:t>
            </a:r>
            <a:r>
              <a:rPr lang="en-GB" sz="1800" dirty="0" err="1"/>
              <a:t>sistem</a:t>
            </a:r>
            <a:r>
              <a:rPr lang="en-GB" sz="1800" dirty="0"/>
              <a:t> de </a:t>
            </a:r>
            <a:r>
              <a:rPr lang="en-GB" sz="1800" dirty="0" err="1"/>
              <a:t>tipuri</a:t>
            </a:r>
            <a:r>
              <a:rPr lang="en-GB" sz="1800" dirty="0"/>
              <a:t> static, TypeScript nu </a:t>
            </a:r>
            <a:r>
              <a:rPr lang="en-GB" sz="1800" dirty="0" err="1"/>
              <a:t>doar</a:t>
            </a:r>
            <a:r>
              <a:rPr lang="en-GB" sz="1800" dirty="0"/>
              <a:t> </a:t>
            </a:r>
            <a:r>
              <a:rPr lang="en-GB" sz="1800" dirty="0" err="1"/>
              <a:t>îmbunătățește</a:t>
            </a:r>
            <a:r>
              <a:rPr lang="en-GB" sz="1800" dirty="0"/>
              <a:t> </a:t>
            </a:r>
            <a:r>
              <a:rPr lang="en-GB" sz="1800" dirty="0" err="1"/>
              <a:t>calitatea</a:t>
            </a:r>
            <a:r>
              <a:rPr lang="en-GB" sz="1800" dirty="0"/>
              <a:t> </a:t>
            </a:r>
            <a:r>
              <a:rPr lang="en-GB" sz="1800" dirty="0" err="1"/>
              <a:t>codului</a:t>
            </a:r>
            <a:r>
              <a:rPr lang="en-GB" sz="1800" dirty="0"/>
              <a:t>, ci </a:t>
            </a:r>
            <a:r>
              <a:rPr lang="en-GB" sz="1800" dirty="0" err="1"/>
              <a:t>și</a:t>
            </a:r>
            <a:r>
              <a:rPr lang="en-GB" sz="1800" dirty="0"/>
              <a:t> </a:t>
            </a:r>
            <a:r>
              <a:rPr lang="en-GB" sz="1800" dirty="0" err="1"/>
              <a:t>colaborarea</a:t>
            </a:r>
            <a:r>
              <a:rPr lang="en-GB" sz="1800" dirty="0"/>
              <a:t> </a:t>
            </a:r>
            <a:r>
              <a:rPr lang="en-GB" sz="1800" dirty="0" err="1"/>
              <a:t>între</a:t>
            </a:r>
            <a:r>
              <a:rPr lang="en-GB" sz="1800" dirty="0"/>
              <a:t> </a:t>
            </a:r>
            <a:r>
              <a:rPr lang="en-GB" sz="1800" dirty="0" err="1"/>
              <a:t>dezvoltatori</a:t>
            </a:r>
            <a:r>
              <a:rPr lang="en-GB" sz="1800" dirty="0"/>
              <a:t>.</a:t>
            </a:r>
            <a:br>
              <a:rPr lang="en-GB" sz="1800" dirty="0"/>
            </a:br>
            <a:r>
              <a:rPr lang="en-GB" sz="1800" dirty="0"/>
              <a:t>	Este un </a:t>
            </a:r>
            <a:r>
              <a:rPr lang="en-GB" sz="1800" dirty="0" err="1"/>
              <a:t>exemplu</a:t>
            </a:r>
            <a:r>
              <a:rPr lang="en-GB" sz="1800" dirty="0"/>
              <a:t> </a:t>
            </a:r>
            <a:r>
              <a:rPr lang="en-GB" sz="1800" dirty="0" err="1"/>
              <a:t>clar</a:t>
            </a:r>
            <a:r>
              <a:rPr lang="en-GB" sz="1800" dirty="0"/>
              <a:t> al </a:t>
            </a:r>
            <a:r>
              <a:rPr lang="en-GB" sz="1800" dirty="0" err="1"/>
              <a:t>direcției</a:t>
            </a:r>
            <a:r>
              <a:rPr lang="en-GB" sz="1800" dirty="0"/>
              <a:t> </a:t>
            </a:r>
            <a:r>
              <a:rPr lang="en-GB" sz="1800" dirty="0" err="1"/>
              <a:t>în</a:t>
            </a:r>
            <a:r>
              <a:rPr lang="en-GB" sz="1800" dirty="0"/>
              <a:t> care </a:t>
            </a:r>
            <a:r>
              <a:rPr lang="en-GB" sz="1800" dirty="0" err="1"/>
              <a:t>evoluează</a:t>
            </a:r>
            <a:r>
              <a:rPr lang="en-GB" sz="1800" dirty="0"/>
              <a:t> </a:t>
            </a:r>
            <a:r>
              <a:rPr lang="en-GB" sz="1800" dirty="0" err="1"/>
              <a:t>programarea</a:t>
            </a:r>
            <a:r>
              <a:rPr lang="en-GB" sz="1800" dirty="0"/>
              <a:t>: </a:t>
            </a:r>
            <a:r>
              <a:rPr lang="en-GB" sz="1800" dirty="0" err="1"/>
              <a:t>spre</a:t>
            </a:r>
            <a:r>
              <a:rPr lang="en-GB" sz="1800" dirty="0"/>
              <a:t> cod </a:t>
            </a:r>
            <a:r>
              <a:rPr lang="en-GB" sz="1800" dirty="0" err="1"/>
              <a:t>mai</a:t>
            </a:r>
            <a:r>
              <a:rPr lang="en-GB" sz="1800" dirty="0"/>
              <a:t> </a:t>
            </a:r>
            <a:r>
              <a:rPr lang="en-GB" sz="1800" dirty="0" err="1"/>
              <a:t>sigur</a:t>
            </a:r>
            <a:r>
              <a:rPr lang="en-GB" sz="1800" dirty="0"/>
              <a:t>, </a:t>
            </a:r>
            <a:r>
              <a:rPr lang="en-GB" sz="1800" dirty="0" err="1"/>
              <a:t>mai</a:t>
            </a:r>
            <a:r>
              <a:rPr lang="en-GB" sz="1800" dirty="0"/>
              <a:t> </a:t>
            </a:r>
            <a:r>
              <a:rPr lang="en-GB" sz="1800" dirty="0" err="1"/>
              <a:t>expresiv</a:t>
            </a:r>
            <a:r>
              <a:rPr lang="en-GB" sz="1800" dirty="0"/>
              <a:t> </a:t>
            </a:r>
            <a:r>
              <a:rPr lang="en-GB" sz="1800" dirty="0" err="1"/>
              <a:t>și</a:t>
            </a:r>
            <a:r>
              <a:rPr lang="en-GB" sz="1800" dirty="0"/>
              <a:t> </a:t>
            </a:r>
            <a:r>
              <a:rPr lang="en-GB" sz="1800" dirty="0" err="1"/>
              <a:t>mai</a:t>
            </a:r>
            <a:r>
              <a:rPr lang="en-GB" sz="1800" dirty="0"/>
              <a:t> </a:t>
            </a:r>
            <a:r>
              <a:rPr lang="en-GB" sz="1800" dirty="0" err="1"/>
              <a:t>ușor</a:t>
            </a:r>
            <a:r>
              <a:rPr lang="en-GB" sz="1800" dirty="0"/>
              <a:t> de </a:t>
            </a:r>
            <a:r>
              <a:rPr lang="en-GB" sz="1800" dirty="0" err="1"/>
              <a:t>întreținut</a:t>
            </a:r>
            <a:r>
              <a:rPr lang="en-GB" sz="1800" dirty="0"/>
              <a:t>.</a:t>
            </a:r>
          </a:p>
        </p:txBody>
      </p:sp>
    </p:spTree>
    <p:extLst>
      <p:ext uri="{BB962C8B-B14F-4D97-AF65-F5344CB8AC3E}">
        <p14:creationId xmlns:p14="http://schemas.microsoft.com/office/powerpoint/2010/main" val="4042314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4C7AC-5735-1786-950F-AE4BF0BA6F12}"/>
              </a:ext>
            </a:extLst>
          </p:cNvPr>
          <p:cNvSpPr>
            <a:spLocks noGrp="1"/>
          </p:cNvSpPr>
          <p:nvPr>
            <p:ph type="title"/>
          </p:nvPr>
        </p:nvSpPr>
        <p:spPr/>
        <p:txBody>
          <a:bodyPr/>
          <a:lstStyle/>
          <a:p>
            <a:r>
              <a:rPr lang="en-US" dirty="0" err="1"/>
              <a:t>Bibliografie</a:t>
            </a:r>
            <a:endParaRPr lang="en-GB" dirty="0"/>
          </a:p>
        </p:txBody>
      </p:sp>
      <p:sp>
        <p:nvSpPr>
          <p:cNvPr id="3" name="Content Placeholder 2">
            <a:extLst>
              <a:ext uri="{FF2B5EF4-FFF2-40B4-BE49-F238E27FC236}">
                <a16:creationId xmlns:a16="http://schemas.microsoft.com/office/drawing/2014/main" id="{27D1DFE2-C1F1-7100-5D0E-F9C431E284B2}"/>
              </a:ext>
            </a:extLst>
          </p:cNvPr>
          <p:cNvSpPr>
            <a:spLocks noGrp="1"/>
          </p:cNvSpPr>
          <p:nvPr>
            <p:ph idx="1"/>
          </p:nvPr>
        </p:nvSpPr>
        <p:spPr/>
        <p:txBody>
          <a:bodyPr/>
          <a:lstStyle/>
          <a:p>
            <a:r>
              <a:rPr lang="en-GB" dirty="0"/>
              <a:t>Microsoft. </a:t>
            </a:r>
            <a:r>
              <a:rPr lang="en-GB" i="1" dirty="0"/>
              <a:t>TypeScript Documentation - </a:t>
            </a:r>
            <a:r>
              <a:rPr lang="en-GB" dirty="0">
                <a:hlinkClick r:id="rId2"/>
              </a:rPr>
              <a:t>https://www.typescriptlang.org/docs</a:t>
            </a:r>
            <a:endParaRPr lang="en-GB" dirty="0"/>
          </a:p>
          <a:p>
            <a:r>
              <a:rPr lang="en-GB" dirty="0"/>
              <a:t>Hejlsberg, A. (2012). </a:t>
            </a:r>
            <a:r>
              <a:rPr lang="en-GB" i="1" dirty="0"/>
              <a:t>Introducing TypeScript</a:t>
            </a:r>
            <a:r>
              <a:rPr lang="en-GB" dirty="0"/>
              <a:t>. Channel 9 Microsoft.</a:t>
            </a:r>
          </a:p>
          <a:p>
            <a:r>
              <a:rPr lang="en-US" dirty="0"/>
              <a:t>Stack Overflow. </a:t>
            </a:r>
            <a:r>
              <a:rPr lang="en-US" i="1" dirty="0"/>
              <a:t>Developer Survey Results 2023</a:t>
            </a:r>
            <a:r>
              <a:rPr lang="en-GB" i="1" dirty="0"/>
              <a:t> - </a:t>
            </a:r>
            <a:r>
              <a:rPr lang="en-GB" dirty="0">
                <a:hlinkClick r:id="rId3"/>
              </a:rPr>
              <a:t>https://survey.stackoverflow.co/2023</a:t>
            </a:r>
            <a:endParaRPr lang="en-GB" dirty="0"/>
          </a:p>
          <a:p>
            <a:r>
              <a:rPr lang="en-GB" dirty="0" err="1"/>
              <a:t>TutorialsPoint</a:t>
            </a:r>
            <a:r>
              <a:rPr lang="en-GB" dirty="0"/>
              <a:t>. </a:t>
            </a:r>
            <a:r>
              <a:rPr lang="en-GB" i="1" dirty="0"/>
              <a:t>Programming Paradigms - </a:t>
            </a:r>
            <a:r>
              <a:rPr lang="en-GB" dirty="0"/>
              <a:t>https://www.tutorialspoint.com/software_engineering/software_engineering_programming_paradigms.html</a:t>
            </a:r>
          </a:p>
        </p:txBody>
      </p:sp>
    </p:spTree>
    <p:extLst>
      <p:ext uri="{BB962C8B-B14F-4D97-AF65-F5344CB8AC3E}">
        <p14:creationId xmlns:p14="http://schemas.microsoft.com/office/powerpoint/2010/main" val="24530912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191</TotalTime>
  <Words>1235</Words>
  <Application>Microsoft Office PowerPoint</Application>
  <PresentationFormat>Widescreen</PresentationFormat>
  <Paragraphs>104</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Neue Haas Grotesk Text Pro</vt:lpstr>
      <vt:lpstr>Times New Roman</vt:lpstr>
      <vt:lpstr>VanillaVTI</vt:lpstr>
      <vt:lpstr>Typescript</vt:lpstr>
      <vt:lpstr>Limbaj</vt:lpstr>
      <vt:lpstr>Descriere limbaj</vt:lpstr>
      <vt:lpstr>PowerPoint Presentation</vt:lpstr>
      <vt:lpstr>Paradigme de programare existente </vt:lpstr>
      <vt:lpstr>Avantaje vs Dezavantaje</vt:lpstr>
      <vt:lpstr>Analiza comparativa cu alte limbaje</vt:lpstr>
      <vt:lpstr>Problema</vt:lpstr>
      <vt:lpstr>Analiza si proiectarea din perspectiva paradigmelor de programare implicate</vt:lpstr>
      <vt:lpstr>Analiza si proiectarea din perspectiva paradigmelor de programare implicate</vt:lpstr>
      <vt:lpstr>Analiza solutiilor din punct de vedere software quality</vt:lpstr>
      <vt:lpstr>PowerPoint Presentation</vt:lpstr>
      <vt:lpstr>PowerPoint Presentation</vt:lpstr>
      <vt:lpstr>PowerPoint Presentation</vt:lpstr>
      <vt:lpstr>Concluzie</vt:lpstr>
      <vt:lpstr>PowerPoint Presentation</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ANDREI-EDUARD IVANCU</dc:creator>
  <cp:lastModifiedBy>ANDREI-EDUARD IVANCU</cp:lastModifiedBy>
  <cp:revision>3</cp:revision>
  <dcterms:created xsi:type="dcterms:W3CDTF">2025-05-10T18:40:52Z</dcterms:created>
  <dcterms:modified xsi:type="dcterms:W3CDTF">2025-05-22T14:23:55Z</dcterms:modified>
</cp:coreProperties>
</file>